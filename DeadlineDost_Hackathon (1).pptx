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27cae9-09ce-3343-2a68-6954a69b4368}">
          <p14:sldIdLst>
            <p14:sldId id="256"/>
          </p14:sldIdLst>
        </p14:section>
        <p14:section name="Problem" id="{8b269164-534c-d637-ab71-1772ed76681a}">
          <p14:sldIdLst>
            <p14:sldId id="257"/>
            <p14:sldId id="258"/>
          </p14:sldIdLst>
        </p14:section>
        <p14:section name="Solution" id="{4aaa0933-a60f-bf71-b313-ffab48e1979a}">
          <p14:sldIdLst>
            <p14:sldId id="259"/>
            <p14:sldId id="260"/>
          </p14:sldIdLst>
        </p14:section>
        <p14:section name="Demo" id="{5657892a-645c-0ef8-bb19-c3937b846ca3}">
          <p14:sldIdLst>
            <p14:sldId id="261"/>
          </p14:sldIdLst>
        </p14:section>
        <p14:section name="Close" id="{08a4f2a4-7035-ad90-a314-1d6e86d1c3b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Apna naam aur team introduce karo. Ek line mein bolo: DeadlineDost ek AI agent hai jo college ki deadlines khud dhundh kar yaad dilata hai. Hackathon, team aur members ka naam yahan bhar lena.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Problem statement yahan bolo. Students ki deadlines email, WhatsApp, Classroom aur notices mein bikhri hoti hain. Right wale card ka example apni life se jodo, jaise tumhare saath bhi aisa hua ho to wo 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Google Calendar aur todo apps achhe hain, par unme sab kuch student ko khud daalna padta hai. Hamara agent khud padhta hai, priority lagata hai aur khud yaad dilata hai. Ye slide Q&amp;A mein "Google Calendar se alag kaise?" ka jawab bhi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Ye main idea slide hai. 5 steps: collect, understand, prioritize, remind, learn. Bolo ki sabse important baat ye hai ki student ko baar baar prompt nahi dena padta, agent khud kaam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Diagram left se right padho. Data aata hai sources se, AI usse task data banata hai, database mein store hota hai aur priority score lagta hai, scheduler timing decide karta hai aur notification jaati hai. Honest raho: abhi dashboard prototype ready hai, Gmail aur Telegram integration next phase hai (agar tum backend bana lo to ye line badal 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Ye tumhari sabse strong slide hai. Yahan live demo karo: ek college message paste karo, Extract dabao, task add karo, phir Overdue/Today/Upcoming aur reminder message dikhao. Tip: dashboard ka real screenshot khinch kar is mock ki jagah laga sakte ho. Demo ka backup screen recording zaroor rakho.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Impact bolo: deadlines miss nahi hongi, time bachega, stress kam hoga. Roadmap mein honestly batao ki abhi kya ready hai aur aage kya aayega. GitHub link aur team ka naam neeche bhar dena. Phir Thank you bolke Q&amp;A ke liye ready raho.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3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4572000" cy="365760"/>
          </a:xfrm>
          <a:prstGeom prst="rect">
            <a:avLst/>
          </a:prstGeom>
          <a:noFill/>
          <a:ln/>
        </p:spPr>
        <p:txBody>
          <a:bodyPr wrap="square" lIns="0" tIns="0" rIns="0" bIns="0" rtlCol="0" anchor="ctr"/>
          <a:lstStyle/>
          <a:p>
            <a:pPr indent="0" marL="0">
              <a:buNone/>
            </a:pPr>
            <a:r>
              <a:rPr lang="en-US" sz="1400" b="1" dirty="0">
                <a:solidFill>
                  <a:schemeClr val="accent2"/>
                </a:solidFill>
              </a:rPr>
              <a:t>[Hackathon name]</a:t>
            </a:r>
            <a:endParaRPr lang="en-US" sz="1400" dirty="0"/>
          </a:p>
        </p:txBody>
      </p:sp>
      <p:sp>
        <p:nvSpPr>
          <p:cNvPr id="3" name="Text 0"/>
          <p:cNvSpPr/>
          <p:nvPr>
            <p:ph idx="100" type="title" hasCustomPrompt="1"/>
          </p:nvPr>
        </p:nvSpPr>
        <p:spPr>
          <a:xfrm>
            <a:off x="548640" y="1371600"/>
            <a:ext cx="5120640" cy="914400"/>
          </a:xfrm>
          <a:prstGeom prst="rect">
            <a:avLst/>
          </a:prstGeom>
          <a:noFill/>
          <a:ln/>
        </p:spPr>
        <p:txBody>
          <a:bodyPr wrap="square" lIns="0" tIns="0" rIns="0" bIns="0" rtlCol="0" anchor="ctr"/>
          <a:lstStyle/>
          <a:p>
            <a:pPr algn="l" indent="0" marL="0">
              <a:buNone/>
            </a:pPr>
            <a:r>
              <a:rPr lang="en-US" sz="4800" b="1" dirty="0">
                <a:solidFill>
                  <a:schemeClr val="bg1"/>
                </a:solidFill>
              </a:rPr>
              <a:t>DeadlineDost</a:t>
            </a:r>
            <a:endParaRPr lang="en-US" sz="4800" dirty="0"/>
          </a:p>
        </p:txBody>
      </p:sp>
      <p:sp>
        <p:nvSpPr>
          <p:cNvPr id="4" name="Text 2"/>
          <p:cNvSpPr txBox="1"/>
          <p:nvPr/>
        </p:nvSpPr>
        <p:spPr>
          <a:xfrm>
            <a:off x="548640" y="2423160"/>
            <a:ext cx="4846320" cy="1005840"/>
          </a:xfrm>
          <a:prstGeom prst="rect">
            <a:avLst/>
          </a:prstGeom>
          <a:noFill/>
          <a:ln/>
        </p:spPr>
        <p:txBody>
          <a:bodyPr wrap="square" lIns="0" tIns="0" rIns="0" bIns="0" rtlCol="0" anchor="t"/>
          <a:lstStyle/>
          <a:p>
            <a:pPr indent="0" marL="0">
              <a:buNone/>
            </a:pPr>
            <a:r>
              <a:rPr lang="en-US" sz="1800" dirty="0">
                <a:solidFill>
                  <a:schemeClr val="bg2"/>
                </a:solidFill>
              </a:rPr>
              <a:t>An AI agent that finds your academic deadlines, ranks them and reminds you before you miss them.</a:t>
            </a:r>
            <a:endParaRPr lang="en-US" sz="1800" dirty="0"/>
          </a:p>
        </p:txBody>
      </p:sp>
      <p:sp>
        <p:nvSpPr>
          <p:cNvPr id="5" name="Text 3"/>
          <p:cNvSpPr txBox="1"/>
          <p:nvPr/>
        </p:nvSpPr>
        <p:spPr>
          <a:xfrm>
            <a:off x="548640" y="3886200"/>
            <a:ext cx="4846320" cy="73152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Team: [Team name]</a:t>
            </a:r>
            <a:endParaRPr lang="en-US" sz="1400" dirty="0"/>
          </a:p>
          <a:p>
            <a:pPr indent="0" marL="0">
              <a:spcAft>
                <a:spcPts val="400"/>
              </a:spcAft>
              <a:buNone/>
            </a:pPr>
            <a:r>
              <a:rPr lang="en-US" sz="1400" dirty="0">
                <a:solidFill>
                  <a:schemeClr val="bg1"/>
                </a:solidFill>
              </a:rPr>
              <a:t>Members: [Name 1], [Name 2], [Name 3]</a:t>
            </a:r>
            <a:endParaRPr lang="en-US" sz="1400" dirty="0"/>
          </a:p>
        </p:txBody>
      </p:sp>
      <p:sp>
        <p:nvSpPr>
          <p:cNvPr id="6" name="Ring track"/>
          <p:cNvSpPr/>
          <p:nvPr/>
        </p:nvSpPr>
        <p:spPr>
          <a:xfrm>
            <a:off x="6035040" y="1188720"/>
            <a:ext cx="2560320" cy="2560320"/>
          </a:xfrm>
          <a:prstGeom prst="ellipse">
            <a:avLst/>
          </a:prstGeom>
          <a:ln w="177800">
            <a:solidFill>
              <a:schemeClr val="accent1"/>
            </a:solidFill>
            <a:prstDash val="solid"/>
          </a:ln>
        </p:spPr>
      </p:sp>
      <p:sp>
        <p:nvSpPr>
          <p:cNvPr id="7" name="Ring progress"/>
          <p:cNvSpPr/>
          <p:nvPr/>
        </p:nvSpPr>
        <p:spPr>
          <a:xfrm>
            <a:off x="5943600" y="1097280"/>
            <a:ext cx="2743200" cy="2743200"/>
          </a:xfrm>
          <a:prstGeom prst="blockArc">
            <a:avLst>
              <a:gd name="adj1" fmla="val 16200000"/>
              <a:gd name="adj2" fmla="val 8640000"/>
              <a:gd name="adj3" fmla="val 3250"/>
            </a:avLst>
          </a:prstGeom>
          <a:solidFill>
            <a:schemeClr val="accent2"/>
          </a:solidFill>
          <a:ln/>
        </p:spPr>
      </p:sp>
      <p:pic>
        <p:nvPicPr>
          <p:cNvPr id="8" name="Clock icon" descr="Clock icon">    </p:cNvPr>
          <p:cNvPicPr>
            <a:picLocks noChangeAspect="1"/>
          </p:cNvPicPr>
          <p:nvPr/>
        </p:nvPicPr>
        <p:blipFill>
          <a:blip r:embed="rId1"/>
          <a:stretch>
            <a:fillRect/>
          </a:stretch>
        </p:blipFill>
        <p:spPr>
          <a:xfrm>
            <a:off x="6812280" y="1965960"/>
            <a:ext cx="1005840" cy="1005840"/>
          </a:xfrm>
          <a:prstGeom prst="rect">
            <a:avLst/>
          </a:prstGeom>
        </p:spPr>
      </p:pic>
      <p:sp>
        <p:nvSpPr>
          <p:cNvPr id="9" name="Overdue pill"/>
          <p:cNvSpPr/>
          <p:nvPr/>
        </p:nvSpPr>
        <p:spPr>
          <a:xfrm>
            <a:off x="5760720" y="4023360"/>
            <a:ext cx="960120" cy="347472"/>
          </a:xfrm>
          <a:prstGeom prst="roundRect">
            <a:avLst>
              <a:gd name="adj" fmla="val 50000"/>
            </a:avLst>
          </a:prstGeom>
          <a:solidFill>
            <a:schemeClr val="accent3"/>
          </a:solidFill>
          <a:ln/>
        </p:spPr>
      </p:sp>
      <p:sp>
        <p:nvSpPr>
          <p:cNvPr id="10" name="Text 7"/>
          <p:cNvSpPr txBox="1"/>
          <p:nvPr/>
        </p:nvSpPr>
        <p:spPr>
          <a:xfrm>
            <a:off x="5760720" y="4023360"/>
            <a:ext cx="960120" cy="347472"/>
          </a:xfrm>
          <a:prstGeom prst="rect">
            <a:avLst/>
          </a:prstGeom>
          <a:noFill/>
          <a:ln/>
        </p:spPr>
        <p:txBody>
          <a:bodyPr wrap="square" lIns="0" tIns="0" rIns="0" bIns="0" rtlCol="0" anchor="ctr"/>
          <a:lstStyle/>
          <a:p>
            <a:pPr algn="ctr" indent="0" marL="0">
              <a:buNone/>
            </a:pPr>
            <a:r>
              <a:rPr lang="en-US" sz="1200" b="1" dirty="0">
                <a:solidFill>
                  <a:schemeClr val="bg1"/>
                </a:solidFill>
              </a:rPr>
              <a:t>Overdue</a:t>
            </a:r>
            <a:endParaRPr lang="en-US" sz="1200" dirty="0"/>
          </a:p>
        </p:txBody>
      </p:sp>
      <p:sp>
        <p:nvSpPr>
          <p:cNvPr id="11" name="Due today pill"/>
          <p:cNvSpPr/>
          <p:nvPr/>
        </p:nvSpPr>
        <p:spPr>
          <a:xfrm>
            <a:off x="6858000" y="4023360"/>
            <a:ext cx="1051560" cy="347472"/>
          </a:xfrm>
          <a:prstGeom prst="roundRect">
            <a:avLst>
              <a:gd name="adj" fmla="val 50000"/>
            </a:avLst>
          </a:prstGeom>
          <a:solidFill>
            <a:schemeClr val="accent4"/>
          </a:solidFill>
          <a:ln/>
        </p:spPr>
      </p:sp>
      <p:sp>
        <p:nvSpPr>
          <p:cNvPr id="12" name="Text 9"/>
          <p:cNvSpPr txBox="1"/>
          <p:nvPr/>
        </p:nvSpPr>
        <p:spPr>
          <a:xfrm>
            <a:off x="6858000" y="4023360"/>
            <a:ext cx="1051560" cy="347472"/>
          </a:xfrm>
          <a:prstGeom prst="rect">
            <a:avLst/>
          </a:prstGeom>
          <a:noFill/>
          <a:ln/>
        </p:spPr>
        <p:txBody>
          <a:bodyPr wrap="square" lIns="0" tIns="0" rIns="0" bIns="0" rtlCol="0" anchor="ctr"/>
          <a:lstStyle/>
          <a:p>
            <a:pPr algn="ctr" indent="0" marL="0">
              <a:buNone/>
            </a:pPr>
            <a:r>
              <a:rPr lang="en-US" sz="1200" b="1" dirty="0">
                <a:solidFill>
                  <a:schemeClr val="bg1"/>
                </a:solidFill>
              </a:rPr>
              <a:t>Due today</a:t>
            </a:r>
            <a:endParaRPr lang="en-US" sz="1200" dirty="0"/>
          </a:p>
        </p:txBody>
      </p:sp>
      <p:sp>
        <p:nvSpPr>
          <p:cNvPr id="13" name="Done pill"/>
          <p:cNvSpPr/>
          <p:nvPr/>
        </p:nvSpPr>
        <p:spPr>
          <a:xfrm>
            <a:off x="8046720" y="4023360"/>
            <a:ext cx="685800" cy="347472"/>
          </a:xfrm>
          <a:prstGeom prst="roundRect">
            <a:avLst>
              <a:gd name="adj" fmla="val 50000"/>
            </a:avLst>
          </a:prstGeom>
          <a:solidFill>
            <a:schemeClr val="accent6"/>
          </a:solidFill>
          <a:ln/>
        </p:spPr>
      </p:sp>
      <p:sp>
        <p:nvSpPr>
          <p:cNvPr id="14" name="Text 11"/>
          <p:cNvSpPr txBox="1"/>
          <p:nvPr/>
        </p:nvSpPr>
        <p:spPr>
          <a:xfrm>
            <a:off x="8046720" y="4023360"/>
            <a:ext cx="685800" cy="347472"/>
          </a:xfrm>
          <a:prstGeom prst="rect">
            <a:avLst/>
          </a:prstGeom>
          <a:noFill/>
          <a:ln/>
        </p:spPr>
        <p:txBody>
          <a:bodyPr wrap="square" lIns="0" tIns="0" rIns="0" bIns="0" rtlCol="0" anchor="ctr"/>
          <a:lstStyle/>
          <a:p>
            <a:pPr algn="ctr" indent="0" marL="0">
              <a:buNone/>
            </a:pPr>
            <a:r>
              <a:rPr lang="en-US" sz="1200" b="1" dirty="0">
                <a:solidFill>
                  <a:schemeClr val="bg1"/>
                </a:solidFill>
              </a:rPr>
              <a:t>Done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Deadlines get lost across platforms</a:t>
            </a:r>
            <a:endParaRPr lang="en-US" sz="3000" dirty="0"/>
          </a:p>
        </p:txBody>
      </p:sp>
      <p:sp>
        <p:nvSpPr>
          <p:cNvPr id="3" name="Email card"/>
          <p:cNvSpPr/>
          <p:nvPr/>
        </p:nvSpPr>
        <p:spPr>
          <a:xfrm>
            <a:off x="457200" y="1280160"/>
            <a:ext cx="2194560" cy="1371600"/>
          </a:xfrm>
          <a:prstGeom prst="roundRect">
            <a:avLst>
              <a:gd name="adj" fmla="val 8000"/>
            </a:avLst>
          </a:prstGeom>
          <a:solidFill>
            <a:schemeClr val="bg2"/>
          </a:solidFill>
          <a:ln/>
        </p:spPr>
      </p:sp>
      <p:sp>
        <p:nvSpPr>
          <p:cNvPr id="4" name="Email icon circle"/>
          <p:cNvSpPr/>
          <p:nvPr/>
        </p:nvSpPr>
        <p:spPr>
          <a:xfrm>
            <a:off x="640080" y="1463040"/>
            <a:ext cx="457200" cy="457200"/>
          </a:xfrm>
          <a:prstGeom prst="ellipse">
            <a:avLst/>
          </a:prstGeom>
          <a:solidFill>
            <a:schemeClr val="accent1"/>
          </a:solidFill>
          <a:ln/>
        </p:spPr>
      </p:sp>
      <p:pic>
        <p:nvPicPr>
          <p:cNvPr id="5" name="Email icon" descr="Email icon">    </p:cNvPr>
          <p:cNvPicPr>
            <a:picLocks noChangeAspect="1"/>
          </p:cNvPicPr>
          <p:nvPr/>
        </p:nvPicPr>
        <p:blipFill>
          <a:blip r:embed="rId1"/>
          <a:stretch>
            <a:fillRect/>
          </a:stretch>
        </p:blipFill>
        <p:spPr>
          <a:xfrm>
            <a:off x="749808" y="1572768"/>
            <a:ext cx="237744" cy="237744"/>
          </a:xfrm>
          <a:prstGeom prst="rect">
            <a:avLst/>
          </a:prstGeom>
        </p:spPr>
      </p:pic>
      <p:sp>
        <p:nvSpPr>
          <p:cNvPr id="6" name="Text 3"/>
          <p:cNvSpPr txBox="1"/>
          <p:nvPr/>
        </p:nvSpPr>
        <p:spPr>
          <a:xfrm>
            <a:off x="640080" y="2029968"/>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Email</a:t>
            </a:r>
            <a:endParaRPr lang="en-US" sz="1600" dirty="0"/>
          </a:p>
        </p:txBody>
      </p:sp>
      <p:sp>
        <p:nvSpPr>
          <p:cNvPr id="7" name="Text 4"/>
          <p:cNvSpPr txBox="1"/>
          <p:nvPr/>
        </p:nvSpPr>
        <p:spPr>
          <a:xfrm>
            <a:off x="640080" y="2304288"/>
            <a:ext cx="1920240" cy="256032"/>
          </a:xfrm>
          <a:prstGeom prst="rect">
            <a:avLst/>
          </a:prstGeom>
          <a:noFill/>
          <a:ln/>
        </p:spPr>
        <p:txBody>
          <a:bodyPr wrap="square" lIns="0" tIns="0" rIns="0" bIns="0" rtlCol="0" anchor="ctr"/>
          <a:lstStyle/>
          <a:p>
            <a:pPr indent="0" marL="0">
              <a:buNone/>
            </a:pPr>
            <a:r>
              <a:rPr lang="en-US" sz="1200" dirty="0">
                <a:solidFill>
                  <a:schemeClr val="tx1"/>
                </a:solidFill>
              </a:rPr>
              <a:t>Professor and college mails</a:t>
            </a:r>
            <a:endParaRPr lang="en-US" sz="1200" dirty="0"/>
          </a:p>
        </p:txBody>
      </p:sp>
      <p:sp>
        <p:nvSpPr>
          <p:cNvPr id="8" name="WhatsApp groups card"/>
          <p:cNvSpPr/>
          <p:nvPr/>
        </p:nvSpPr>
        <p:spPr>
          <a:xfrm>
            <a:off x="2788920" y="1280160"/>
            <a:ext cx="2194560" cy="1371600"/>
          </a:xfrm>
          <a:prstGeom prst="roundRect">
            <a:avLst>
              <a:gd name="adj" fmla="val 8000"/>
            </a:avLst>
          </a:prstGeom>
          <a:solidFill>
            <a:schemeClr val="bg2"/>
          </a:solidFill>
          <a:ln/>
        </p:spPr>
      </p:sp>
      <p:sp>
        <p:nvSpPr>
          <p:cNvPr id="9" name="WhatsApp groups icon circle"/>
          <p:cNvSpPr/>
          <p:nvPr/>
        </p:nvSpPr>
        <p:spPr>
          <a:xfrm>
            <a:off x="2971800" y="1463040"/>
            <a:ext cx="457200" cy="457200"/>
          </a:xfrm>
          <a:prstGeom prst="ellipse">
            <a:avLst/>
          </a:prstGeom>
          <a:solidFill>
            <a:schemeClr val="accent1"/>
          </a:solidFill>
          <a:ln/>
        </p:spPr>
      </p:sp>
      <p:pic>
        <p:nvPicPr>
          <p:cNvPr id="10" name="WhatsApp groups icon" descr="WhatsApp groups icon">    </p:cNvPr>
          <p:cNvPicPr>
            <a:picLocks noChangeAspect="1"/>
          </p:cNvPicPr>
          <p:nvPr/>
        </p:nvPicPr>
        <p:blipFill>
          <a:blip r:embed="rId2"/>
          <a:stretch>
            <a:fillRect/>
          </a:stretch>
        </p:blipFill>
        <p:spPr>
          <a:xfrm>
            <a:off x="3081528" y="1572768"/>
            <a:ext cx="237744" cy="237744"/>
          </a:xfrm>
          <a:prstGeom prst="rect">
            <a:avLst/>
          </a:prstGeom>
        </p:spPr>
      </p:pic>
      <p:sp>
        <p:nvSpPr>
          <p:cNvPr id="11" name="Text 7"/>
          <p:cNvSpPr txBox="1"/>
          <p:nvPr/>
        </p:nvSpPr>
        <p:spPr>
          <a:xfrm>
            <a:off x="2971800" y="2029968"/>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WhatsApp groups</a:t>
            </a:r>
            <a:endParaRPr lang="en-US" sz="1600" dirty="0"/>
          </a:p>
        </p:txBody>
      </p:sp>
      <p:sp>
        <p:nvSpPr>
          <p:cNvPr id="12" name="Text 8"/>
          <p:cNvSpPr txBox="1"/>
          <p:nvPr/>
        </p:nvSpPr>
        <p:spPr>
          <a:xfrm>
            <a:off x="2971800" y="2304288"/>
            <a:ext cx="1920240" cy="256032"/>
          </a:xfrm>
          <a:prstGeom prst="rect">
            <a:avLst/>
          </a:prstGeom>
          <a:noFill/>
          <a:ln/>
        </p:spPr>
        <p:txBody>
          <a:bodyPr wrap="square" lIns="0" tIns="0" rIns="0" bIns="0" rtlCol="0" anchor="ctr"/>
          <a:lstStyle/>
          <a:p>
            <a:pPr indent="0" marL="0">
              <a:buNone/>
            </a:pPr>
            <a:r>
              <a:rPr lang="en-US" sz="1200" dirty="0">
                <a:solidFill>
                  <a:schemeClr val="tx1"/>
                </a:solidFill>
              </a:rPr>
              <a:t>Quick deadline messages</a:t>
            </a:r>
            <a:endParaRPr lang="en-US" sz="1200" dirty="0"/>
          </a:p>
        </p:txBody>
      </p:sp>
      <p:sp>
        <p:nvSpPr>
          <p:cNvPr id="13" name="Classroom and LMS card"/>
          <p:cNvSpPr/>
          <p:nvPr/>
        </p:nvSpPr>
        <p:spPr>
          <a:xfrm>
            <a:off x="457200" y="2788920"/>
            <a:ext cx="2194560" cy="1371600"/>
          </a:xfrm>
          <a:prstGeom prst="roundRect">
            <a:avLst>
              <a:gd name="adj" fmla="val 8000"/>
            </a:avLst>
          </a:prstGeom>
          <a:solidFill>
            <a:schemeClr val="bg2"/>
          </a:solidFill>
          <a:ln/>
        </p:spPr>
      </p:sp>
      <p:sp>
        <p:nvSpPr>
          <p:cNvPr id="14" name="Classroom and LMS icon circle"/>
          <p:cNvSpPr/>
          <p:nvPr/>
        </p:nvSpPr>
        <p:spPr>
          <a:xfrm>
            <a:off x="640080" y="2971800"/>
            <a:ext cx="457200" cy="457200"/>
          </a:xfrm>
          <a:prstGeom prst="ellipse">
            <a:avLst/>
          </a:prstGeom>
          <a:solidFill>
            <a:schemeClr val="accent1"/>
          </a:solidFill>
          <a:ln/>
        </p:spPr>
      </p:sp>
      <p:pic>
        <p:nvPicPr>
          <p:cNvPr id="15" name="Classroom and LMS icon" descr="Classroom and LMS icon">    </p:cNvPr>
          <p:cNvPicPr>
            <a:picLocks noChangeAspect="1"/>
          </p:cNvPicPr>
          <p:nvPr/>
        </p:nvPicPr>
        <p:blipFill>
          <a:blip r:embed="rId3"/>
          <a:stretch>
            <a:fillRect/>
          </a:stretch>
        </p:blipFill>
        <p:spPr>
          <a:xfrm>
            <a:off x="749808" y="3081528"/>
            <a:ext cx="237744" cy="237744"/>
          </a:xfrm>
          <a:prstGeom prst="rect">
            <a:avLst/>
          </a:prstGeom>
        </p:spPr>
      </p:pic>
      <p:sp>
        <p:nvSpPr>
          <p:cNvPr id="16" name="Text 11"/>
          <p:cNvSpPr txBox="1"/>
          <p:nvPr/>
        </p:nvSpPr>
        <p:spPr>
          <a:xfrm>
            <a:off x="640080" y="3538728"/>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Classroom and LMS</a:t>
            </a:r>
            <a:endParaRPr lang="en-US" sz="1600" dirty="0"/>
          </a:p>
        </p:txBody>
      </p:sp>
      <p:sp>
        <p:nvSpPr>
          <p:cNvPr id="17" name="Text 12"/>
          <p:cNvSpPr txBox="1"/>
          <p:nvPr/>
        </p:nvSpPr>
        <p:spPr>
          <a:xfrm>
            <a:off x="640080" y="3813048"/>
            <a:ext cx="1920240" cy="256032"/>
          </a:xfrm>
          <a:prstGeom prst="rect">
            <a:avLst/>
          </a:prstGeom>
          <a:noFill/>
          <a:ln/>
        </p:spPr>
        <p:txBody>
          <a:bodyPr wrap="square" lIns="0" tIns="0" rIns="0" bIns="0" rtlCol="0" anchor="ctr"/>
          <a:lstStyle/>
          <a:p>
            <a:pPr indent="0" marL="0">
              <a:buNone/>
            </a:pPr>
            <a:r>
              <a:rPr lang="en-US" sz="1200" dirty="0">
                <a:solidFill>
                  <a:schemeClr val="tx1"/>
                </a:solidFill>
              </a:rPr>
              <a:t>Assignments and quizzes</a:t>
            </a:r>
            <a:endParaRPr lang="en-US" sz="1200" dirty="0"/>
          </a:p>
        </p:txBody>
      </p:sp>
      <p:sp>
        <p:nvSpPr>
          <p:cNvPr id="18" name="Notices and PDFs card"/>
          <p:cNvSpPr/>
          <p:nvPr/>
        </p:nvSpPr>
        <p:spPr>
          <a:xfrm>
            <a:off x="2788920" y="2788920"/>
            <a:ext cx="2194560" cy="1371600"/>
          </a:xfrm>
          <a:prstGeom prst="roundRect">
            <a:avLst>
              <a:gd name="adj" fmla="val 8000"/>
            </a:avLst>
          </a:prstGeom>
          <a:solidFill>
            <a:schemeClr val="bg2"/>
          </a:solidFill>
          <a:ln/>
        </p:spPr>
      </p:sp>
      <p:sp>
        <p:nvSpPr>
          <p:cNvPr id="19" name="Notices and PDFs icon circle"/>
          <p:cNvSpPr/>
          <p:nvPr/>
        </p:nvSpPr>
        <p:spPr>
          <a:xfrm>
            <a:off x="2971800" y="2971800"/>
            <a:ext cx="457200" cy="457200"/>
          </a:xfrm>
          <a:prstGeom prst="ellipse">
            <a:avLst/>
          </a:prstGeom>
          <a:solidFill>
            <a:schemeClr val="accent1"/>
          </a:solidFill>
          <a:ln/>
        </p:spPr>
      </p:sp>
      <p:pic>
        <p:nvPicPr>
          <p:cNvPr id="20" name="Notices and PDFs icon" descr="Notices and PDFs icon">    </p:cNvPr>
          <p:cNvPicPr>
            <a:picLocks noChangeAspect="1"/>
          </p:cNvPicPr>
          <p:nvPr/>
        </p:nvPicPr>
        <p:blipFill>
          <a:blip r:embed="rId4"/>
          <a:stretch>
            <a:fillRect/>
          </a:stretch>
        </p:blipFill>
        <p:spPr>
          <a:xfrm>
            <a:off x="3081528" y="3081528"/>
            <a:ext cx="237744" cy="237744"/>
          </a:xfrm>
          <a:prstGeom prst="rect">
            <a:avLst/>
          </a:prstGeom>
        </p:spPr>
      </p:pic>
      <p:sp>
        <p:nvSpPr>
          <p:cNvPr id="21" name="Text 15"/>
          <p:cNvSpPr txBox="1"/>
          <p:nvPr/>
        </p:nvSpPr>
        <p:spPr>
          <a:xfrm>
            <a:off x="2971800" y="3538728"/>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Notices and PDFs</a:t>
            </a:r>
            <a:endParaRPr lang="en-US" sz="1600" dirty="0"/>
          </a:p>
        </p:txBody>
      </p:sp>
      <p:sp>
        <p:nvSpPr>
          <p:cNvPr id="22" name="Text 16"/>
          <p:cNvSpPr txBox="1"/>
          <p:nvPr/>
        </p:nvSpPr>
        <p:spPr>
          <a:xfrm>
            <a:off x="2971800" y="3813048"/>
            <a:ext cx="1920240" cy="256032"/>
          </a:xfrm>
          <a:prstGeom prst="rect">
            <a:avLst/>
          </a:prstGeom>
          <a:noFill/>
          <a:ln/>
        </p:spPr>
        <p:txBody>
          <a:bodyPr wrap="square" lIns="0" tIns="0" rIns="0" bIns="0" rtlCol="0" anchor="ctr"/>
          <a:lstStyle/>
          <a:p>
            <a:pPr indent="0" marL="0">
              <a:buNone/>
            </a:pPr>
            <a:r>
              <a:rPr lang="en-US" sz="1200" dirty="0">
                <a:solidFill>
                  <a:schemeClr val="tx1"/>
                </a:solidFill>
              </a:rPr>
              <a:t>Timetables and circulars</a:t>
            </a:r>
            <a:endParaRPr lang="en-US" sz="1200" dirty="0"/>
          </a:p>
        </p:txBody>
      </p:sp>
      <p:sp>
        <p:nvSpPr>
          <p:cNvPr id="23" name="Example card"/>
          <p:cNvSpPr/>
          <p:nvPr/>
        </p:nvSpPr>
        <p:spPr>
          <a:xfrm>
            <a:off x="5303520" y="1280160"/>
            <a:ext cx="3383280" cy="2880360"/>
          </a:xfrm>
          <a:prstGeom prst="roundRect">
            <a:avLst>
              <a:gd name="adj" fmla="val 3810"/>
            </a:avLst>
          </a:prstGeom>
          <a:solidFill>
            <a:schemeClr val="tx2"/>
          </a:solidFill>
          <a:ln/>
        </p:spPr>
      </p:sp>
      <p:sp>
        <p:nvSpPr>
          <p:cNvPr id="24" name="Text 18"/>
          <p:cNvSpPr txBox="1"/>
          <p:nvPr/>
        </p:nvSpPr>
        <p:spPr>
          <a:xfrm>
            <a:off x="5532120" y="1463040"/>
            <a:ext cx="2926080" cy="274320"/>
          </a:xfrm>
          <a:prstGeom prst="rect">
            <a:avLst/>
          </a:prstGeom>
          <a:noFill/>
          <a:ln/>
        </p:spPr>
        <p:txBody>
          <a:bodyPr wrap="square" lIns="0" tIns="0" rIns="0" bIns="0" rtlCol="0" anchor="ctr"/>
          <a:lstStyle/>
          <a:p>
            <a:pPr indent="0" marL="0">
              <a:buNone/>
            </a:pPr>
            <a:r>
              <a:rPr lang="en-US" sz="1400" b="1" dirty="0">
                <a:solidFill>
                  <a:schemeClr val="accent2"/>
                </a:solidFill>
              </a:rPr>
              <a:t>A real example</a:t>
            </a:r>
            <a:endParaRPr lang="en-US" sz="1400" dirty="0"/>
          </a:p>
        </p:txBody>
      </p:sp>
      <p:sp>
        <p:nvSpPr>
          <p:cNvPr id="25" name="Text 19"/>
          <p:cNvSpPr txBox="1"/>
          <p:nvPr/>
        </p:nvSpPr>
        <p:spPr>
          <a:xfrm>
            <a:off x="5532120" y="1783080"/>
            <a:ext cx="2926080" cy="1417320"/>
          </a:xfrm>
          <a:prstGeom prst="rect">
            <a:avLst/>
          </a:prstGeom>
          <a:noFill/>
          <a:ln/>
        </p:spPr>
        <p:txBody>
          <a:bodyPr wrap="square" lIns="0" tIns="0" rIns="0" bIns="0" rtlCol="0" anchor="t"/>
          <a:lstStyle/>
          <a:p>
            <a:pPr indent="0" marL="0">
              <a:buNone/>
            </a:pPr>
            <a:r>
              <a:rPr lang="en-US" sz="1500" dirty="0">
                <a:solidFill>
                  <a:schemeClr val="bg1"/>
                </a:solidFill>
              </a:rPr>
              <a:t>The date comes on WhatsApp. The email says a different date. Nobody adds it to a calendar. The student finds out the night before.</a:t>
            </a:r>
            <a:endParaRPr lang="en-US" sz="1500" dirty="0"/>
          </a:p>
        </p:txBody>
      </p:sp>
      <p:sp>
        <p:nvSpPr>
          <p:cNvPr id="26" name="Text 20"/>
          <p:cNvSpPr txBox="1"/>
          <p:nvPr/>
        </p:nvSpPr>
        <p:spPr>
          <a:xfrm>
            <a:off x="5532120" y="3291840"/>
            <a:ext cx="2926080" cy="274320"/>
          </a:xfrm>
          <a:prstGeom prst="rect">
            <a:avLst/>
          </a:prstGeom>
          <a:noFill/>
          <a:ln/>
        </p:spPr>
        <p:txBody>
          <a:bodyPr wrap="square" lIns="0" tIns="0" rIns="0" bIns="0" rtlCol="0" anchor="ctr"/>
          <a:lstStyle/>
          <a:p>
            <a:pPr indent="0" marL="0">
              <a:buNone/>
            </a:pPr>
            <a:r>
              <a:rPr lang="en-US" sz="1400" b="1" dirty="0">
                <a:solidFill>
                  <a:schemeClr val="accent2"/>
                </a:solidFill>
              </a:rPr>
              <a:t>The result</a:t>
            </a:r>
            <a:endParaRPr lang="en-US" sz="1400" dirty="0"/>
          </a:p>
        </p:txBody>
      </p:sp>
      <p:sp>
        <p:nvSpPr>
          <p:cNvPr id="27" name="Text 21"/>
          <p:cNvSpPr txBox="1"/>
          <p:nvPr/>
        </p:nvSpPr>
        <p:spPr>
          <a:xfrm>
            <a:off x="5532120" y="3566160"/>
            <a:ext cx="2926080" cy="502920"/>
          </a:xfrm>
          <a:prstGeom prst="rect">
            <a:avLst/>
          </a:prstGeom>
          <a:noFill/>
          <a:ln/>
        </p:spPr>
        <p:txBody>
          <a:bodyPr wrap="square" lIns="0" tIns="0" rIns="0" bIns="0" rtlCol="0" anchor="t"/>
          <a:lstStyle/>
          <a:p>
            <a:pPr indent="0" marL="0">
              <a:buNone/>
            </a:pPr>
            <a:r>
              <a:rPr lang="en-US" sz="1500" dirty="0">
                <a:solidFill>
                  <a:schemeClr val="bg1"/>
                </a:solidFill>
              </a:rPr>
              <a:t>Missed submissions, lost marks and last-minute stress.</a:t>
            </a:r>
            <a:endParaRPr lang="en-US" sz="1500" dirty="0"/>
          </a:p>
        </p:txBody>
      </p:sp>
      <p:sp>
        <p:nvSpPr>
          <p:cNvPr id="28" name="Text 22"/>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600" i="1" dirty="0">
                <a:solidFill>
                  <a:schemeClr val="tx2"/>
                </a:solidFill>
              </a:rPr>
              <a:t>One student, five places to check, and no single view of what is due.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Existing apps still need the student</a:t>
            </a:r>
            <a:endParaRPr lang="en-US" sz="30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246120"/>
                <a:gridCol w="3246120"/>
              </a:tblGrid>
              <a:tr h="457200">
                <a:tc>
                  <a:txBody>
                    <a:bodyPr/>
                    <a:lstStyle/>
                    <a:p>
                      <a:pPr indent="0" marL="0">
                        <a:buNone/>
                      </a:pP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b="1" dirty="0">
                          <a:solidFill>
                            <a:srgbClr val="0E2622"/>
                          </a:solidFill>
                        </a:rPr>
                        <a:t>Existing reminder apps</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D0DFD9"/>
                    </a:solidFill>
                  </a:tcPr>
                </a:tc>
                <a:tc>
                  <a:txBody>
                    <a:bodyPr/>
                    <a:lstStyle/>
                    <a:p>
                      <a:pPr indent="0" marL="0">
                        <a:buNone/>
                      </a:pPr>
                      <a:r>
                        <a:rPr lang="en-US" sz="1400" b="1" dirty="0">
                          <a:solidFill>
                            <a:srgbClr val="FFFFFF"/>
                          </a:solidFill>
                        </a:rPr>
                        <a:t>DeadlineDost</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17594D"/>
                    </a:solidFill>
                  </a:tcPr>
                </a:tc>
              </a:tr>
              <a:tr h="457200">
                <a:tc>
                  <a:txBody>
                    <a:bodyPr/>
                    <a:lstStyle/>
                    <a:p>
                      <a:pPr indent="0" marL="0">
                        <a:buNone/>
                      </a:pPr>
                      <a:r>
                        <a:rPr lang="en-US" sz="1400" b="1" dirty="0">
                          <a:solidFill>
                            <a:srgbClr val="0E2622"/>
                          </a:solidFill>
                        </a:rPr>
                        <a:t>Adding tasks</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Student types every task</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Agent reads messages and extracts tasks</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E9F1ED"/>
                    </a:solidFill>
                  </a:tcPr>
                </a:tc>
              </a:tr>
              <a:tr h="457200">
                <a:tc>
                  <a:txBody>
                    <a:bodyPr/>
                    <a:lstStyle/>
                    <a:p>
                      <a:pPr indent="0" marL="0">
                        <a:buNone/>
                      </a:pPr>
                      <a:r>
                        <a:rPr lang="en-US" sz="1400" b="1" dirty="0">
                          <a:solidFill>
                            <a:srgbClr val="0E2622"/>
                          </a:solidFill>
                        </a:rPr>
                        <a:t>Reminders</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Fixed time before a date</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Timed by priority and workload</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E9F1ED"/>
                    </a:solidFill>
                  </a:tcPr>
                </a:tc>
              </a:tr>
              <a:tr h="457200">
                <a:tc>
                  <a:txBody>
                    <a:bodyPr/>
                    <a:lstStyle/>
                    <a:p>
                      <a:pPr indent="0" marL="0">
                        <a:buNone/>
                      </a:pPr>
                      <a:r>
                        <a:rPr lang="en-US" sz="1400" b="1" dirty="0">
                          <a:solidFill>
                            <a:srgbClr val="0E2622"/>
                          </a:solidFill>
                        </a:rPr>
                        <a:t>Priority</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None, every task looks equal</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Score from deadline, marks and effort</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E9F1ED"/>
                    </a:solidFill>
                  </a:tcPr>
                </a:tc>
              </a:tr>
              <a:tr h="457200">
                <a:tc>
                  <a:txBody>
                    <a:bodyPr/>
                    <a:lstStyle/>
                    <a:p>
                      <a:pPr indent="0" marL="0">
                        <a:buNone/>
                      </a:pPr>
                      <a:r>
                        <a:rPr lang="en-US" sz="1400" b="1" dirty="0">
                          <a:solidFill>
                            <a:srgbClr val="0E2622"/>
                          </a:solidFill>
                        </a:rPr>
                        <a:t>Behaviour</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Waits for the student to open it</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Proactive, no repeated prompts</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E9F1ED"/>
                    </a:solidFill>
                  </a:tcPr>
                </a:tc>
              </a:tr>
              <a:tr h="457200">
                <a:tc>
                  <a:txBody>
                    <a:bodyPr/>
                    <a:lstStyle/>
                    <a:p>
                      <a:pPr indent="0" marL="0">
                        <a:buNone/>
                      </a:pPr>
                      <a:r>
                        <a:rPr lang="en-US" sz="1400" b="1" dirty="0">
                          <a:solidFill>
                            <a:srgbClr val="0E2622"/>
                          </a:solidFill>
                        </a:rPr>
                        <a:t>Learning</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Same for every student</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FFFFFF"/>
                    </a:solidFill>
                  </a:tcPr>
                </a:tc>
                <a:tc>
                  <a:txBody>
                    <a:bodyPr/>
                    <a:lstStyle/>
                    <a:p>
                      <a:pPr indent="0" marL="0">
                        <a:buNone/>
                      </a:pPr>
                      <a:r>
                        <a:rPr lang="en-US" sz="1400" dirty="0">
                          <a:solidFill>
                            <a:srgbClr val="0E2622"/>
                          </a:solidFill>
                        </a:rPr>
                        <a:t>Adapts to each student’s habits</a:t>
                      </a:r>
                      <a:endParaRPr lang="en-US" sz="1400" dirty="0"/>
                    </a:p>
                  </a:txBody>
                  <a:tcPr marL="91440" marR="91440" marT="45720" marB="45720" anchor="ctr">
                    <a:lnL w="12700" cap="flat" cmpd="sng" algn="ctr">
                      <a:solidFill>
                        <a:srgbClr val="D0DFD9"/>
                      </a:solidFill>
                      <a:prstDash val="solid"/>
                      <a:round/>
                      <a:headEnd type="none" w="med" len="med"/>
                      <a:tailEnd type="none" w="med" len="med"/>
                    </a:lnL>
                    <a:lnR w="12700" cap="flat" cmpd="sng" algn="ctr">
                      <a:solidFill>
                        <a:srgbClr val="D0DFD9"/>
                      </a:solidFill>
                      <a:prstDash val="solid"/>
                      <a:round/>
                      <a:headEnd type="none" w="med" len="med"/>
                      <a:tailEnd type="none" w="med" len="med"/>
                    </a:lnR>
                    <a:lnT w="12700" cap="flat" cmpd="sng" algn="ctr">
                      <a:solidFill>
                        <a:srgbClr val="D0DFD9"/>
                      </a:solidFill>
                      <a:prstDash val="solid"/>
                      <a:round/>
                      <a:headEnd type="none" w="med" len="med"/>
                      <a:tailEnd type="none" w="med" len="med"/>
                    </a:lnT>
                    <a:lnB w="12700" cap="flat" cmpd="sng" algn="ctr">
                      <a:solidFill>
                        <a:srgbClr val="D0DFD9"/>
                      </a:solidFill>
                      <a:prstDash val="solid"/>
                      <a:round/>
                      <a:headEnd type="none" w="med" len="med"/>
                      <a:tailEnd type="none" w="med" len="med"/>
                    </a:lnB>
                    <a:solidFill>
                      <a:srgbClr val="E9F1ED"/>
                    </a:solidFill>
                  </a:tcPr>
                </a:tc>
              </a:tr>
            </a:tbl>
          </a:graphicData>
        </a:graphic>
      </p:graphicFrame>
      <p:sp>
        <p:nvSpPr>
          <p:cNvPr id="4" name="Text 1"/>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600" i="1" dirty="0">
                <a:solidFill>
                  <a:schemeClr val="tx2"/>
                </a:solidFill>
              </a:rPr>
              <a:t>The gap: the student should not have to remember, type or check anything.</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An agent that works without prompts</a:t>
            </a:r>
            <a:endParaRPr lang="en-US" sz="3000" dirty="0"/>
          </a:p>
        </p:txBody>
      </p:sp>
      <p:sp>
        <p:nvSpPr>
          <p:cNvPr id="3" name="Collect card"/>
          <p:cNvSpPr/>
          <p:nvPr/>
        </p:nvSpPr>
        <p:spPr>
          <a:xfrm>
            <a:off x="457200" y="1325880"/>
            <a:ext cx="1554480" cy="2468880"/>
          </a:xfrm>
          <a:prstGeom prst="roundRect">
            <a:avLst>
              <a:gd name="adj" fmla="val 7059"/>
            </a:avLst>
          </a:prstGeom>
          <a:solidFill>
            <a:schemeClr val="bg2"/>
          </a:solidFill>
          <a:ln/>
        </p:spPr>
      </p:sp>
      <p:sp>
        <p:nvSpPr>
          <p:cNvPr id="4" name="Collect icon circle"/>
          <p:cNvSpPr/>
          <p:nvPr/>
        </p:nvSpPr>
        <p:spPr>
          <a:xfrm>
            <a:off x="594360" y="1508760"/>
            <a:ext cx="548640" cy="548640"/>
          </a:xfrm>
          <a:prstGeom prst="ellipse">
            <a:avLst/>
          </a:prstGeom>
          <a:solidFill>
            <a:schemeClr val="accent1"/>
          </a:solidFill>
          <a:ln/>
        </p:spPr>
      </p:sp>
      <p:pic>
        <p:nvPicPr>
          <p:cNvPr id="5" name="Collect icon" descr="Collect icon">    </p:cNvPr>
          <p:cNvPicPr>
            <a:picLocks noChangeAspect="1"/>
          </p:cNvPicPr>
          <p:nvPr/>
        </p:nvPicPr>
        <p:blipFill>
          <a:blip r:embed="rId1"/>
          <a:stretch>
            <a:fillRect/>
          </a:stretch>
        </p:blipFill>
        <p:spPr>
          <a:xfrm>
            <a:off x="726034" y="1640434"/>
            <a:ext cx="285293" cy="285293"/>
          </a:xfrm>
          <a:prstGeom prst="rect">
            <a:avLst/>
          </a:prstGeom>
        </p:spPr>
      </p:pic>
      <p:sp>
        <p:nvSpPr>
          <p:cNvPr id="6" name="Text 3"/>
          <p:cNvSpPr txBox="1"/>
          <p:nvPr/>
        </p:nvSpPr>
        <p:spPr>
          <a:xfrm>
            <a:off x="1554480" y="1508760"/>
            <a:ext cx="320040" cy="274320"/>
          </a:xfrm>
          <a:prstGeom prst="rect">
            <a:avLst/>
          </a:prstGeom>
          <a:noFill/>
          <a:ln/>
        </p:spPr>
        <p:txBody>
          <a:bodyPr wrap="square" lIns="0" tIns="0" rIns="0" bIns="0" rtlCol="0" anchor="ctr"/>
          <a:lstStyle/>
          <a:p>
            <a:pPr algn="r" indent="0" marL="0">
              <a:buNone/>
            </a:pPr>
            <a:r>
              <a:rPr lang="en-US" sz="1400" b="1" dirty="0">
                <a:solidFill>
                  <a:schemeClr val="accent1"/>
                </a:solidFill>
              </a:rPr>
              <a:t>1</a:t>
            </a:r>
            <a:endParaRPr lang="en-US" sz="1400" dirty="0"/>
          </a:p>
        </p:txBody>
      </p:sp>
      <p:sp>
        <p:nvSpPr>
          <p:cNvPr id="7" name="Text 4"/>
          <p:cNvSpPr txBox="1"/>
          <p:nvPr/>
        </p:nvSpPr>
        <p:spPr>
          <a:xfrm>
            <a:off x="594360" y="2240280"/>
            <a:ext cx="1280160" cy="320040"/>
          </a:xfrm>
          <a:prstGeom prst="rect">
            <a:avLst/>
          </a:prstGeom>
          <a:noFill/>
          <a:ln/>
        </p:spPr>
        <p:txBody>
          <a:bodyPr wrap="square" lIns="0" tIns="0" rIns="0" bIns="0" rtlCol="0" anchor="ctr"/>
          <a:lstStyle/>
          <a:p>
            <a:pPr indent="0" marL="0">
              <a:buNone/>
            </a:pPr>
            <a:r>
              <a:rPr lang="en-US" sz="1600" b="1" dirty="0">
                <a:solidFill>
                  <a:schemeClr val="tx1"/>
                </a:solidFill>
              </a:rPr>
              <a:t>Collect</a:t>
            </a:r>
            <a:endParaRPr lang="en-US" sz="1600" dirty="0"/>
          </a:p>
        </p:txBody>
      </p:sp>
      <p:sp>
        <p:nvSpPr>
          <p:cNvPr id="8" name="Text 5"/>
          <p:cNvSpPr txBox="1"/>
          <p:nvPr/>
        </p:nvSpPr>
        <p:spPr>
          <a:xfrm>
            <a:off x="594360" y="2606040"/>
            <a:ext cx="1298448" cy="1097280"/>
          </a:xfrm>
          <a:prstGeom prst="rect">
            <a:avLst/>
          </a:prstGeom>
          <a:noFill/>
          <a:ln/>
        </p:spPr>
        <p:txBody>
          <a:bodyPr wrap="square" lIns="0" tIns="0" rIns="0" bIns="0" rtlCol="0" anchor="t"/>
          <a:lstStyle/>
          <a:p>
            <a:pPr indent="0" marL="0">
              <a:buNone/>
            </a:pPr>
            <a:r>
              <a:rPr lang="en-US" sz="1200" dirty="0">
                <a:solidFill>
                  <a:schemeClr val="tx1"/>
                </a:solidFill>
              </a:rPr>
              <a:t>Reads email, Classroom, class chats and notices</a:t>
            </a:r>
            <a:endParaRPr lang="en-US" sz="1200" dirty="0"/>
          </a:p>
        </p:txBody>
      </p:sp>
      <p:sp>
        <p:nvSpPr>
          <p:cNvPr id="9" name="Understand card"/>
          <p:cNvSpPr/>
          <p:nvPr/>
        </p:nvSpPr>
        <p:spPr>
          <a:xfrm>
            <a:off x="2125980" y="1325880"/>
            <a:ext cx="1554480" cy="2468880"/>
          </a:xfrm>
          <a:prstGeom prst="roundRect">
            <a:avLst>
              <a:gd name="adj" fmla="val 7059"/>
            </a:avLst>
          </a:prstGeom>
          <a:solidFill>
            <a:schemeClr val="bg2"/>
          </a:solidFill>
          <a:ln/>
        </p:spPr>
      </p:sp>
      <p:sp>
        <p:nvSpPr>
          <p:cNvPr id="10" name="Understand icon circle"/>
          <p:cNvSpPr/>
          <p:nvPr/>
        </p:nvSpPr>
        <p:spPr>
          <a:xfrm>
            <a:off x="2263140" y="1508760"/>
            <a:ext cx="548640" cy="548640"/>
          </a:xfrm>
          <a:prstGeom prst="ellipse">
            <a:avLst/>
          </a:prstGeom>
          <a:solidFill>
            <a:schemeClr val="accent1"/>
          </a:solidFill>
          <a:ln/>
        </p:spPr>
      </p:sp>
      <p:pic>
        <p:nvPicPr>
          <p:cNvPr id="11" name="Understand icon" descr="Understand icon">    </p:cNvPr>
          <p:cNvPicPr>
            <a:picLocks noChangeAspect="1"/>
          </p:cNvPicPr>
          <p:nvPr/>
        </p:nvPicPr>
        <p:blipFill>
          <a:blip r:embed="rId2"/>
          <a:stretch>
            <a:fillRect/>
          </a:stretch>
        </p:blipFill>
        <p:spPr>
          <a:xfrm>
            <a:off x="2394814" y="1640434"/>
            <a:ext cx="285293" cy="285293"/>
          </a:xfrm>
          <a:prstGeom prst="rect">
            <a:avLst/>
          </a:prstGeom>
        </p:spPr>
      </p:pic>
      <p:sp>
        <p:nvSpPr>
          <p:cNvPr id="12" name="Text 8"/>
          <p:cNvSpPr txBox="1"/>
          <p:nvPr/>
        </p:nvSpPr>
        <p:spPr>
          <a:xfrm>
            <a:off x="3223260" y="1508760"/>
            <a:ext cx="320040" cy="274320"/>
          </a:xfrm>
          <a:prstGeom prst="rect">
            <a:avLst/>
          </a:prstGeom>
          <a:noFill/>
          <a:ln/>
        </p:spPr>
        <p:txBody>
          <a:bodyPr wrap="square" lIns="0" tIns="0" rIns="0" bIns="0" rtlCol="0" anchor="ctr"/>
          <a:lstStyle/>
          <a:p>
            <a:pPr algn="r" indent="0" marL="0">
              <a:buNone/>
            </a:pPr>
            <a:r>
              <a:rPr lang="en-US" sz="1400" b="1" dirty="0">
                <a:solidFill>
                  <a:schemeClr val="accent1"/>
                </a:solidFill>
              </a:rPr>
              <a:t>2</a:t>
            </a:r>
            <a:endParaRPr lang="en-US" sz="1400" dirty="0"/>
          </a:p>
        </p:txBody>
      </p:sp>
      <p:sp>
        <p:nvSpPr>
          <p:cNvPr id="13" name="Text 9"/>
          <p:cNvSpPr txBox="1"/>
          <p:nvPr/>
        </p:nvSpPr>
        <p:spPr>
          <a:xfrm>
            <a:off x="2263140" y="2240280"/>
            <a:ext cx="1280160" cy="320040"/>
          </a:xfrm>
          <a:prstGeom prst="rect">
            <a:avLst/>
          </a:prstGeom>
          <a:noFill/>
          <a:ln/>
        </p:spPr>
        <p:txBody>
          <a:bodyPr wrap="square" lIns="0" tIns="0" rIns="0" bIns="0" rtlCol="0" anchor="ctr"/>
          <a:lstStyle/>
          <a:p>
            <a:pPr indent="0" marL="0">
              <a:buNone/>
            </a:pPr>
            <a:r>
              <a:rPr lang="en-US" sz="1600" b="1" dirty="0">
                <a:solidFill>
                  <a:schemeClr val="tx1"/>
                </a:solidFill>
              </a:rPr>
              <a:t>Understand</a:t>
            </a:r>
            <a:endParaRPr lang="en-US" sz="1600" dirty="0"/>
          </a:p>
        </p:txBody>
      </p:sp>
      <p:sp>
        <p:nvSpPr>
          <p:cNvPr id="14" name="Text 10"/>
          <p:cNvSpPr txBox="1"/>
          <p:nvPr/>
        </p:nvSpPr>
        <p:spPr>
          <a:xfrm>
            <a:off x="2263140" y="2606040"/>
            <a:ext cx="1298448" cy="1097280"/>
          </a:xfrm>
          <a:prstGeom prst="rect">
            <a:avLst/>
          </a:prstGeom>
          <a:noFill/>
          <a:ln/>
        </p:spPr>
        <p:txBody>
          <a:bodyPr wrap="square" lIns="0" tIns="0" rIns="0" bIns="0" rtlCol="0" anchor="t"/>
          <a:lstStyle/>
          <a:p>
            <a:pPr indent="0" marL="0">
              <a:buNone/>
            </a:pPr>
            <a:r>
              <a:rPr lang="en-US" sz="1200" dirty="0">
                <a:solidFill>
                  <a:schemeClr val="tx1"/>
                </a:solidFill>
              </a:rPr>
              <a:t>AI pulls out task, subject, deadline and marks</a:t>
            </a:r>
            <a:endParaRPr lang="en-US" sz="1200" dirty="0"/>
          </a:p>
        </p:txBody>
      </p:sp>
      <p:sp>
        <p:nvSpPr>
          <p:cNvPr id="15" name="Prioritize card"/>
          <p:cNvSpPr/>
          <p:nvPr/>
        </p:nvSpPr>
        <p:spPr>
          <a:xfrm>
            <a:off x="3794760" y="1325880"/>
            <a:ext cx="1554480" cy="2468880"/>
          </a:xfrm>
          <a:prstGeom prst="roundRect">
            <a:avLst>
              <a:gd name="adj" fmla="val 7059"/>
            </a:avLst>
          </a:prstGeom>
          <a:solidFill>
            <a:schemeClr val="bg2"/>
          </a:solidFill>
          <a:ln/>
        </p:spPr>
      </p:sp>
      <p:sp>
        <p:nvSpPr>
          <p:cNvPr id="16" name="Prioritize icon circle"/>
          <p:cNvSpPr/>
          <p:nvPr/>
        </p:nvSpPr>
        <p:spPr>
          <a:xfrm>
            <a:off x="3931920" y="1508760"/>
            <a:ext cx="548640" cy="548640"/>
          </a:xfrm>
          <a:prstGeom prst="ellipse">
            <a:avLst/>
          </a:prstGeom>
          <a:solidFill>
            <a:schemeClr val="accent1"/>
          </a:solidFill>
          <a:ln/>
        </p:spPr>
      </p:sp>
      <p:pic>
        <p:nvPicPr>
          <p:cNvPr id="17" name="Prioritize icon" descr="Prioritize icon">    </p:cNvPr>
          <p:cNvPicPr>
            <a:picLocks noChangeAspect="1"/>
          </p:cNvPicPr>
          <p:nvPr/>
        </p:nvPicPr>
        <p:blipFill>
          <a:blip r:embed="rId3"/>
          <a:stretch>
            <a:fillRect/>
          </a:stretch>
        </p:blipFill>
        <p:spPr>
          <a:xfrm>
            <a:off x="4063594" y="1640434"/>
            <a:ext cx="285293" cy="285293"/>
          </a:xfrm>
          <a:prstGeom prst="rect">
            <a:avLst/>
          </a:prstGeom>
        </p:spPr>
      </p:pic>
      <p:sp>
        <p:nvSpPr>
          <p:cNvPr id="18" name="Text 13"/>
          <p:cNvSpPr txBox="1"/>
          <p:nvPr/>
        </p:nvSpPr>
        <p:spPr>
          <a:xfrm>
            <a:off x="4892040" y="1508760"/>
            <a:ext cx="320040" cy="274320"/>
          </a:xfrm>
          <a:prstGeom prst="rect">
            <a:avLst/>
          </a:prstGeom>
          <a:noFill/>
          <a:ln/>
        </p:spPr>
        <p:txBody>
          <a:bodyPr wrap="square" lIns="0" tIns="0" rIns="0" bIns="0" rtlCol="0" anchor="ctr"/>
          <a:lstStyle/>
          <a:p>
            <a:pPr algn="r" indent="0" marL="0">
              <a:buNone/>
            </a:pPr>
            <a:r>
              <a:rPr lang="en-US" sz="1400" b="1" dirty="0">
                <a:solidFill>
                  <a:schemeClr val="accent1"/>
                </a:solidFill>
              </a:rPr>
              <a:t>3</a:t>
            </a:r>
            <a:endParaRPr lang="en-US" sz="1400" dirty="0"/>
          </a:p>
        </p:txBody>
      </p:sp>
      <p:sp>
        <p:nvSpPr>
          <p:cNvPr id="19" name="Text 14"/>
          <p:cNvSpPr txBox="1"/>
          <p:nvPr/>
        </p:nvSpPr>
        <p:spPr>
          <a:xfrm>
            <a:off x="3931920" y="2240280"/>
            <a:ext cx="1280160" cy="320040"/>
          </a:xfrm>
          <a:prstGeom prst="rect">
            <a:avLst/>
          </a:prstGeom>
          <a:noFill/>
          <a:ln/>
        </p:spPr>
        <p:txBody>
          <a:bodyPr wrap="square" lIns="0" tIns="0" rIns="0" bIns="0" rtlCol="0" anchor="ctr"/>
          <a:lstStyle/>
          <a:p>
            <a:pPr indent="0" marL="0">
              <a:buNone/>
            </a:pPr>
            <a:r>
              <a:rPr lang="en-US" sz="1600" b="1" dirty="0">
                <a:solidFill>
                  <a:schemeClr val="tx1"/>
                </a:solidFill>
              </a:rPr>
              <a:t>Prioritize</a:t>
            </a:r>
            <a:endParaRPr lang="en-US" sz="1600" dirty="0"/>
          </a:p>
        </p:txBody>
      </p:sp>
      <p:sp>
        <p:nvSpPr>
          <p:cNvPr id="20" name="Text 15"/>
          <p:cNvSpPr txBox="1"/>
          <p:nvPr/>
        </p:nvSpPr>
        <p:spPr>
          <a:xfrm>
            <a:off x="3931920" y="2606040"/>
            <a:ext cx="1298448" cy="1097280"/>
          </a:xfrm>
          <a:prstGeom prst="rect">
            <a:avLst/>
          </a:prstGeom>
          <a:noFill/>
          <a:ln/>
        </p:spPr>
        <p:txBody>
          <a:bodyPr wrap="square" lIns="0" tIns="0" rIns="0" bIns="0" rtlCol="0" anchor="t"/>
          <a:lstStyle/>
          <a:p>
            <a:pPr indent="0" marL="0">
              <a:buNone/>
            </a:pPr>
            <a:r>
              <a:rPr lang="en-US" sz="1200" dirty="0">
                <a:solidFill>
                  <a:schemeClr val="tx1"/>
                </a:solidFill>
              </a:rPr>
              <a:t>Scores every task from 0 to 100</a:t>
            </a:r>
            <a:endParaRPr lang="en-US" sz="1200" dirty="0"/>
          </a:p>
        </p:txBody>
      </p:sp>
      <p:sp>
        <p:nvSpPr>
          <p:cNvPr id="21" name="Remind card"/>
          <p:cNvSpPr/>
          <p:nvPr/>
        </p:nvSpPr>
        <p:spPr>
          <a:xfrm>
            <a:off x="5463540" y="1325880"/>
            <a:ext cx="1554480" cy="2468880"/>
          </a:xfrm>
          <a:prstGeom prst="roundRect">
            <a:avLst>
              <a:gd name="adj" fmla="val 7059"/>
            </a:avLst>
          </a:prstGeom>
          <a:solidFill>
            <a:schemeClr val="bg2"/>
          </a:solidFill>
          <a:ln/>
        </p:spPr>
      </p:sp>
      <p:sp>
        <p:nvSpPr>
          <p:cNvPr id="22" name="Remind icon circle"/>
          <p:cNvSpPr/>
          <p:nvPr/>
        </p:nvSpPr>
        <p:spPr>
          <a:xfrm>
            <a:off x="5600700" y="1508760"/>
            <a:ext cx="548640" cy="548640"/>
          </a:xfrm>
          <a:prstGeom prst="ellipse">
            <a:avLst/>
          </a:prstGeom>
          <a:solidFill>
            <a:schemeClr val="accent1"/>
          </a:solidFill>
          <a:ln/>
        </p:spPr>
      </p:sp>
      <p:pic>
        <p:nvPicPr>
          <p:cNvPr id="23" name="Remind icon" descr="Remind icon">    </p:cNvPr>
          <p:cNvPicPr>
            <a:picLocks noChangeAspect="1"/>
          </p:cNvPicPr>
          <p:nvPr/>
        </p:nvPicPr>
        <p:blipFill>
          <a:blip r:embed="rId4"/>
          <a:stretch>
            <a:fillRect/>
          </a:stretch>
        </p:blipFill>
        <p:spPr>
          <a:xfrm>
            <a:off x="5732374" y="1640434"/>
            <a:ext cx="285293" cy="285293"/>
          </a:xfrm>
          <a:prstGeom prst="rect">
            <a:avLst/>
          </a:prstGeom>
        </p:spPr>
      </p:pic>
      <p:sp>
        <p:nvSpPr>
          <p:cNvPr id="24" name="Text 18"/>
          <p:cNvSpPr txBox="1"/>
          <p:nvPr/>
        </p:nvSpPr>
        <p:spPr>
          <a:xfrm>
            <a:off x="6560820" y="1508760"/>
            <a:ext cx="320040" cy="274320"/>
          </a:xfrm>
          <a:prstGeom prst="rect">
            <a:avLst/>
          </a:prstGeom>
          <a:noFill/>
          <a:ln/>
        </p:spPr>
        <p:txBody>
          <a:bodyPr wrap="square" lIns="0" tIns="0" rIns="0" bIns="0" rtlCol="0" anchor="ctr"/>
          <a:lstStyle/>
          <a:p>
            <a:pPr algn="r" indent="0" marL="0">
              <a:buNone/>
            </a:pPr>
            <a:r>
              <a:rPr lang="en-US" sz="1400" b="1" dirty="0">
                <a:solidFill>
                  <a:schemeClr val="accent1"/>
                </a:solidFill>
              </a:rPr>
              <a:t>4</a:t>
            </a:r>
            <a:endParaRPr lang="en-US" sz="1400" dirty="0"/>
          </a:p>
        </p:txBody>
      </p:sp>
      <p:sp>
        <p:nvSpPr>
          <p:cNvPr id="25" name="Text 19"/>
          <p:cNvSpPr txBox="1"/>
          <p:nvPr/>
        </p:nvSpPr>
        <p:spPr>
          <a:xfrm>
            <a:off x="5600700" y="2240280"/>
            <a:ext cx="1280160" cy="320040"/>
          </a:xfrm>
          <a:prstGeom prst="rect">
            <a:avLst/>
          </a:prstGeom>
          <a:noFill/>
          <a:ln/>
        </p:spPr>
        <p:txBody>
          <a:bodyPr wrap="square" lIns="0" tIns="0" rIns="0" bIns="0" rtlCol="0" anchor="ctr"/>
          <a:lstStyle/>
          <a:p>
            <a:pPr indent="0" marL="0">
              <a:buNone/>
            </a:pPr>
            <a:r>
              <a:rPr lang="en-US" sz="1600" b="1" dirty="0">
                <a:solidFill>
                  <a:schemeClr val="tx1"/>
                </a:solidFill>
              </a:rPr>
              <a:t>Remind</a:t>
            </a:r>
            <a:endParaRPr lang="en-US" sz="1600" dirty="0"/>
          </a:p>
        </p:txBody>
      </p:sp>
      <p:sp>
        <p:nvSpPr>
          <p:cNvPr id="26" name="Text 20"/>
          <p:cNvSpPr txBox="1"/>
          <p:nvPr/>
        </p:nvSpPr>
        <p:spPr>
          <a:xfrm>
            <a:off x="5600700" y="2606040"/>
            <a:ext cx="1298448" cy="1097280"/>
          </a:xfrm>
          <a:prstGeom prst="rect">
            <a:avLst/>
          </a:prstGeom>
          <a:noFill/>
          <a:ln/>
        </p:spPr>
        <p:txBody>
          <a:bodyPr wrap="square" lIns="0" tIns="0" rIns="0" bIns="0" rtlCol="0" anchor="t"/>
          <a:lstStyle/>
          <a:p>
            <a:pPr indent="0" marL="0">
              <a:buNone/>
            </a:pPr>
            <a:r>
              <a:rPr lang="en-US" sz="1200" dirty="0">
                <a:solidFill>
                  <a:schemeClr val="tx1"/>
                </a:solidFill>
              </a:rPr>
              <a:t>Sends the right nudge at the right time</a:t>
            </a:r>
            <a:endParaRPr lang="en-US" sz="1200" dirty="0"/>
          </a:p>
        </p:txBody>
      </p:sp>
      <p:sp>
        <p:nvSpPr>
          <p:cNvPr id="27" name="Learn card"/>
          <p:cNvSpPr/>
          <p:nvPr/>
        </p:nvSpPr>
        <p:spPr>
          <a:xfrm>
            <a:off x="7132320" y="1325880"/>
            <a:ext cx="1554480" cy="2468880"/>
          </a:xfrm>
          <a:prstGeom prst="roundRect">
            <a:avLst>
              <a:gd name="adj" fmla="val 7059"/>
            </a:avLst>
          </a:prstGeom>
          <a:solidFill>
            <a:schemeClr val="bg2"/>
          </a:solidFill>
          <a:ln/>
        </p:spPr>
      </p:sp>
      <p:sp>
        <p:nvSpPr>
          <p:cNvPr id="28" name="Learn icon circle"/>
          <p:cNvSpPr/>
          <p:nvPr/>
        </p:nvSpPr>
        <p:spPr>
          <a:xfrm>
            <a:off x="7269480" y="1508760"/>
            <a:ext cx="548640" cy="548640"/>
          </a:xfrm>
          <a:prstGeom prst="ellipse">
            <a:avLst/>
          </a:prstGeom>
          <a:solidFill>
            <a:schemeClr val="accent1"/>
          </a:solidFill>
          <a:ln/>
        </p:spPr>
      </p:sp>
      <p:pic>
        <p:nvPicPr>
          <p:cNvPr id="29" name="Learn icon" descr="Learn icon">    </p:cNvPr>
          <p:cNvPicPr>
            <a:picLocks noChangeAspect="1"/>
          </p:cNvPicPr>
          <p:nvPr/>
        </p:nvPicPr>
        <p:blipFill>
          <a:blip r:embed="rId5"/>
          <a:stretch>
            <a:fillRect/>
          </a:stretch>
        </p:blipFill>
        <p:spPr>
          <a:xfrm>
            <a:off x="7401154" y="1640434"/>
            <a:ext cx="285293" cy="285293"/>
          </a:xfrm>
          <a:prstGeom prst="rect">
            <a:avLst/>
          </a:prstGeom>
        </p:spPr>
      </p:pic>
      <p:sp>
        <p:nvSpPr>
          <p:cNvPr id="30" name="Text 23"/>
          <p:cNvSpPr txBox="1"/>
          <p:nvPr/>
        </p:nvSpPr>
        <p:spPr>
          <a:xfrm>
            <a:off x="8229600" y="1508760"/>
            <a:ext cx="320040" cy="274320"/>
          </a:xfrm>
          <a:prstGeom prst="rect">
            <a:avLst/>
          </a:prstGeom>
          <a:noFill/>
          <a:ln/>
        </p:spPr>
        <p:txBody>
          <a:bodyPr wrap="square" lIns="0" tIns="0" rIns="0" bIns="0" rtlCol="0" anchor="ctr"/>
          <a:lstStyle/>
          <a:p>
            <a:pPr algn="r" indent="0" marL="0">
              <a:buNone/>
            </a:pPr>
            <a:r>
              <a:rPr lang="en-US" sz="1400" b="1" dirty="0">
                <a:solidFill>
                  <a:schemeClr val="accent1"/>
                </a:solidFill>
              </a:rPr>
              <a:t>5</a:t>
            </a:r>
            <a:endParaRPr lang="en-US" sz="1400" dirty="0"/>
          </a:p>
        </p:txBody>
      </p:sp>
      <p:sp>
        <p:nvSpPr>
          <p:cNvPr id="31" name="Text 24"/>
          <p:cNvSpPr txBox="1"/>
          <p:nvPr/>
        </p:nvSpPr>
        <p:spPr>
          <a:xfrm>
            <a:off x="7269480" y="2240280"/>
            <a:ext cx="1280160" cy="320040"/>
          </a:xfrm>
          <a:prstGeom prst="rect">
            <a:avLst/>
          </a:prstGeom>
          <a:noFill/>
          <a:ln/>
        </p:spPr>
        <p:txBody>
          <a:bodyPr wrap="square" lIns="0" tIns="0" rIns="0" bIns="0" rtlCol="0" anchor="ctr"/>
          <a:lstStyle/>
          <a:p>
            <a:pPr indent="0" marL="0">
              <a:buNone/>
            </a:pPr>
            <a:r>
              <a:rPr lang="en-US" sz="1600" b="1" dirty="0">
                <a:solidFill>
                  <a:schemeClr val="tx1"/>
                </a:solidFill>
              </a:rPr>
              <a:t>Learn</a:t>
            </a:r>
            <a:endParaRPr lang="en-US" sz="1600" dirty="0"/>
          </a:p>
        </p:txBody>
      </p:sp>
      <p:sp>
        <p:nvSpPr>
          <p:cNvPr id="32" name="Text 25"/>
          <p:cNvSpPr txBox="1"/>
          <p:nvPr/>
        </p:nvSpPr>
        <p:spPr>
          <a:xfrm>
            <a:off x="7269480" y="2606040"/>
            <a:ext cx="1298448" cy="1097280"/>
          </a:xfrm>
          <a:prstGeom prst="rect">
            <a:avLst/>
          </a:prstGeom>
          <a:noFill/>
          <a:ln/>
        </p:spPr>
        <p:txBody>
          <a:bodyPr wrap="square" lIns="0" tIns="0" rIns="0" bIns="0" rtlCol="0" anchor="t"/>
          <a:lstStyle/>
          <a:p>
            <a:pPr indent="0" marL="0">
              <a:buNone/>
            </a:pPr>
            <a:r>
              <a:rPr lang="en-US" sz="1200" dirty="0">
                <a:solidFill>
                  <a:schemeClr val="tx1"/>
                </a:solidFill>
              </a:rPr>
              <a:t>Adapts to how the student actually works</a:t>
            </a:r>
            <a:endParaRPr lang="en-US" sz="1200" dirty="0"/>
          </a:p>
        </p:txBody>
      </p:sp>
      <p:sp>
        <p:nvSpPr>
          <p:cNvPr id="33" name="Key message"/>
          <p:cNvSpPr/>
          <p:nvPr/>
        </p:nvSpPr>
        <p:spPr>
          <a:xfrm>
            <a:off x="457200" y="4023360"/>
            <a:ext cx="8229600" cy="640080"/>
          </a:xfrm>
          <a:prstGeom prst="roundRect">
            <a:avLst>
              <a:gd name="adj" fmla="val 17143"/>
            </a:avLst>
          </a:prstGeom>
          <a:solidFill>
            <a:schemeClr val="accent2"/>
          </a:solidFill>
          <a:ln/>
        </p:spPr>
      </p:sp>
      <p:sp>
        <p:nvSpPr>
          <p:cNvPr id="34" name="Text 27"/>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600" b="1" dirty="0">
                <a:solidFill>
                  <a:schemeClr val="tx1"/>
                </a:solidFill>
              </a:rPr>
              <a:t>The student does nothing. The agent keeps the list and the reminders up to date.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How it works</a:t>
            </a:r>
            <a:endParaRPr lang="en-US" sz="3000" dirty="0"/>
          </a:p>
        </p:txBody>
      </p:sp>
      <p:sp>
        <p:nvSpPr>
          <p:cNvPr id="3" name="Sources box"/>
          <p:cNvSpPr/>
          <p:nvPr/>
        </p:nvSpPr>
        <p:spPr>
          <a:xfrm>
            <a:off x="457200" y="1280160"/>
            <a:ext cx="1417320" cy="1280160"/>
          </a:xfrm>
          <a:prstGeom prst="roundRect">
            <a:avLst>
              <a:gd name="adj" fmla="val 8571"/>
            </a:avLst>
          </a:prstGeom>
          <a:solidFill>
            <a:schemeClr val="bg2"/>
          </a:solidFill>
          <a:ln/>
        </p:spPr>
      </p:sp>
      <p:sp>
        <p:nvSpPr>
          <p:cNvPr id="4" name="Text 2"/>
          <p:cNvSpPr txBox="1"/>
          <p:nvPr/>
        </p:nvSpPr>
        <p:spPr>
          <a:xfrm>
            <a:off x="566928" y="1371600"/>
            <a:ext cx="1197864" cy="292608"/>
          </a:xfrm>
          <a:prstGeom prst="rect">
            <a:avLst/>
          </a:prstGeom>
          <a:noFill/>
          <a:ln/>
        </p:spPr>
        <p:txBody>
          <a:bodyPr wrap="square" lIns="0" tIns="0" rIns="0" bIns="0" rtlCol="0" anchor="ctr"/>
          <a:lstStyle/>
          <a:p>
            <a:pPr indent="0" marL="0">
              <a:buNone/>
            </a:pPr>
            <a:r>
              <a:rPr lang="en-US" sz="1400" b="1" dirty="0">
                <a:solidFill>
                  <a:schemeClr val="tx1"/>
                </a:solidFill>
              </a:rPr>
              <a:t>Sources</a:t>
            </a:r>
            <a:endParaRPr lang="en-US" sz="1400" dirty="0"/>
          </a:p>
        </p:txBody>
      </p:sp>
      <p:sp>
        <p:nvSpPr>
          <p:cNvPr id="5" name="Text 3"/>
          <p:cNvSpPr txBox="1"/>
          <p:nvPr/>
        </p:nvSpPr>
        <p:spPr>
          <a:xfrm>
            <a:off x="566928" y="1691640"/>
            <a:ext cx="1197864" cy="777240"/>
          </a:xfrm>
          <a:prstGeom prst="rect">
            <a:avLst/>
          </a:prstGeom>
          <a:noFill/>
          <a:ln/>
        </p:spPr>
        <p:txBody>
          <a:bodyPr wrap="square" lIns="0" tIns="0" rIns="0" bIns="0" rtlCol="0" anchor="t"/>
          <a:lstStyle/>
          <a:p>
            <a:pPr indent="0" marL="0">
              <a:buNone/>
            </a:pPr>
            <a:r>
              <a:rPr lang="en-US" sz="1200" dirty="0">
                <a:solidFill>
                  <a:schemeClr val="tx1"/>
                </a:solidFill>
              </a:rPr>
              <a:t>Gmail, Classroom, chat groups, PDFs</a:t>
            </a:r>
            <a:endParaRPr lang="en-US" sz="1200" dirty="0"/>
          </a:p>
        </p:txBody>
      </p:sp>
      <p:sp>
        <p:nvSpPr>
          <p:cNvPr id="6" name="Arrow 1"/>
          <p:cNvSpPr/>
          <p:nvPr/>
        </p:nvSpPr>
        <p:spPr>
          <a:xfrm>
            <a:off x="1901952" y="1783080"/>
            <a:ext cx="228600" cy="256032"/>
          </a:xfrm>
          <a:prstGeom prst="rightArrow">
            <a:avLst/>
          </a:prstGeom>
          <a:solidFill>
            <a:schemeClr val="accent1"/>
          </a:solidFill>
          <a:ln/>
        </p:spPr>
      </p:sp>
      <p:sp>
        <p:nvSpPr>
          <p:cNvPr id="7" name="AI extraction box"/>
          <p:cNvSpPr/>
          <p:nvPr/>
        </p:nvSpPr>
        <p:spPr>
          <a:xfrm>
            <a:off x="2157984" y="1280160"/>
            <a:ext cx="1417320" cy="1280160"/>
          </a:xfrm>
          <a:prstGeom prst="roundRect">
            <a:avLst>
              <a:gd name="adj" fmla="val 8571"/>
            </a:avLst>
          </a:prstGeom>
          <a:solidFill>
            <a:schemeClr val="bg2"/>
          </a:solidFill>
          <a:ln/>
        </p:spPr>
      </p:sp>
      <p:sp>
        <p:nvSpPr>
          <p:cNvPr id="8" name="Text 6"/>
          <p:cNvSpPr txBox="1"/>
          <p:nvPr/>
        </p:nvSpPr>
        <p:spPr>
          <a:xfrm>
            <a:off x="2267712" y="1371600"/>
            <a:ext cx="1197864" cy="292608"/>
          </a:xfrm>
          <a:prstGeom prst="rect">
            <a:avLst/>
          </a:prstGeom>
          <a:noFill/>
          <a:ln/>
        </p:spPr>
        <p:txBody>
          <a:bodyPr wrap="square" lIns="0" tIns="0" rIns="0" bIns="0" rtlCol="0" anchor="ctr"/>
          <a:lstStyle/>
          <a:p>
            <a:pPr indent="0" marL="0">
              <a:buNone/>
            </a:pPr>
            <a:r>
              <a:rPr lang="en-US" sz="1400" b="1" dirty="0">
                <a:solidFill>
                  <a:schemeClr val="tx1"/>
                </a:solidFill>
              </a:rPr>
              <a:t>AI extraction</a:t>
            </a:r>
            <a:endParaRPr lang="en-US" sz="1400" dirty="0"/>
          </a:p>
        </p:txBody>
      </p:sp>
      <p:sp>
        <p:nvSpPr>
          <p:cNvPr id="9" name="Text 7"/>
          <p:cNvSpPr txBox="1"/>
          <p:nvPr/>
        </p:nvSpPr>
        <p:spPr>
          <a:xfrm>
            <a:off x="2267712" y="1691640"/>
            <a:ext cx="1197864" cy="777240"/>
          </a:xfrm>
          <a:prstGeom prst="rect">
            <a:avLst/>
          </a:prstGeom>
          <a:noFill/>
          <a:ln/>
        </p:spPr>
        <p:txBody>
          <a:bodyPr wrap="square" lIns="0" tIns="0" rIns="0" bIns="0" rtlCol="0" anchor="t"/>
          <a:lstStyle/>
          <a:p>
            <a:pPr indent="0" marL="0">
              <a:buNone/>
            </a:pPr>
            <a:r>
              <a:rPr lang="en-US" sz="1200" dirty="0">
                <a:solidFill>
                  <a:schemeClr val="tx1"/>
                </a:solidFill>
              </a:rPr>
              <a:t>Claude API turns text into task data</a:t>
            </a:r>
            <a:endParaRPr lang="en-US" sz="1200" dirty="0"/>
          </a:p>
        </p:txBody>
      </p:sp>
      <p:sp>
        <p:nvSpPr>
          <p:cNvPr id="10" name="Arrow 2"/>
          <p:cNvSpPr/>
          <p:nvPr/>
        </p:nvSpPr>
        <p:spPr>
          <a:xfrm>
            <a:off x="3602736" y="1783080"/>
            <a:ext cx="228600" cy="256032"/>
          </a:xfrm>
          <a:prstGeom prst="rightArrow">
            <a:avLst/>
          </a:prstGeom>
          <a:solidFill>
            <a:schemeClr val="accent1"/>
          </a:solidFill>
          <a:ln/>
        </p:spPr>
      </p:sp>
      <p:sp>
        <p:nvSpPr>
          <p:cNvPr id="11" name="Store and rank box"/>
          <p:cNvSpPr/>
          <p:nvPr/>
        </p:nvSpPr>
        <p:spPr>
          <a:xfrm>
            <a:off x="3858768" y="1280160"/>
            <a:ext cx="1417320" cy="1280160"/>
          </a:xfrm>
          <a:prstGeom prst="roundRect">
            <a:avLst>
              <a:gd name="adj" fmla="val 8571"/>
            </a:avLst>
          </a:prstGeom>
          <a:solidFill>
            <a:schemeClr val="bg2"/>
          </a:solidFill>
          <a:ln/>
        </p:spPr>
      </p:sp>
      <p:sp>
        <p:nvSpPr>
          <p:cNvPr id="12" name="Text 10"/>
          <p:cNvSpPr txBox="1"/>
          <p:nvPr/>
        </p:nvSpPr>
        <p:spPr>
          <a:xfrm>
            <a:off x="3968496" y="1371600"/>
            <a:ext cx="1197864" cy="292608"/>
          </a:xfrm>
          <a:prstGeom prst="rect">
            <a:avLst/>
          </a:prstGeom>
          <a:noFill/>
          <a:ln/>
        </p:spPr>
        <p:txBody>
          <a:bodyPr wrap="square" lIns="0" tIns="0" rIns="0" bIns="0" rtlCol="0" anchor="ctr"/>
          <a:lstStyle/>
          <a:p>
            <a:pPr indent="0" marL="0">
              <a:buNone/>
            </a:pPr>
            <a:r>
              <a:rPr lang="en-US" sz="1400" b="1" dirty="0">
                <a:solidFill>
                  <a:schemeClr val="tx1"/>
                </a:solidFill>
              </a:rPr>
              <a:t>Store and rank</a:t>
            </a:r>
            <a:endParaRPr lang="en-US" sz="1400" dirty="0"/>
          </a:p>
        </p:txBody>
      </p:sp>
      <p:sp>
        <p:nvSpPr>
          <p:cNvPr id="13" name="Text 11"/>
          <p:cNvSpPr txBox="1"/>
          <p:nvPr/>
        </p:nvSpPr>
        <p:spPr>
          <a:xfrm>
            <a:off x="3968496" y="1691640"/>
            <a:ext cx="1197864" cy="777240"/>
          </a:xfrm>
          <a:prstGeom prst="rect">
            <a:avLst/>
          </a:prstGeom>
          <a:noFill/>
          <a:ln/>
        </p:spPr>
        <p:txBody>
          <a:bodyPr wrap="square" lIns="0" tIns="0" rIns="0" bIns="0" rtlCol="0" anchor="t"/>
          <a:lstStyle/>
          <a:p>
            <a:pPr indent="0" marL="0">
              <a:buNone/>
            </a:pPr>
            <a:r>
              <a:rPr lang="en-US" sz="1200" dirty="0">
                <a:solidFill>
                  <a:schemeClr val="tx1"/>
                </a:solidFill>
              </a:rPr>
              <a:t>SQLite holds tasks, score ranks them</a:t>
            </a:r>
            <a:endParaRPr lang="en-US" sz="1200" dirty="0"/>
          </a:p>
        </p:txBody>
      </p:sp>
      <p:sp>
        <p:nvSpPr>
          <p:cNvPr id="14" name="Arrow 3"/>
          <p:cNvSpPr/>
          <p:nvPr/>
        </p:nvSpPr>
        <p:spPr>
          <a:xfrm>
            <a:off x="5303520" y="1783080"/>
            <a:ext cx="228600" cy="256032"/>
          </a:xfrm>
          <a:prstGeom prst="rightArrow">
            <a:avLst/>
          </a:prstGeom>
          <a:solidFill>
            <a:schemeClr val="accent1"/>
          </a:solidFill>
          <a:ln/>
        </p:spPr>
      </p:sp>
      <p:sp>
        <p:nvSpPr>
          <p:cNvPr id="15" name="Scheduler box"/>
          <p:cNvSpPr/>
          <p:nvPr/>
        </p:nvSpPr>
        <p:spPr>
          <a:xfrm>
            <a:off x="5559552" y="1280160"/>
            <a:ext cx="1417320" cy="1280160"/>
          </a:xfrm>
          <a:prstGeom prst="roundRect">
            <a:avLst>
              <a:gd name="adj" fmla="val 8571"/>
            </a:avLst>
          </a:prstGeom>
          <a:solidFill>
            <a:schemeClr val="bg2"/>
          </a:solidFill>
          <a:ln/>
        </p:spPr>
      </p:sp>
      <p:sp>
        <p:nvSpPr>
          <p:cNvPr id="16" name="Text 14"/>
          <p:cNvSpPr txBox="1"/>
          <p:nvPr/>
        </p:nvSpPr>
        <p:spPr>
          <a:xfrm>
            <a:off x="5669280" y="1371600"/>
            <a:ext cx="1197864" cy="292608"/>
          </a:xfrm>
          <a:prstGeom prst="rect">
            <a:avLst/>
          </a:prstGeom>
          <a:noFill/>
          <a:ln/>
        </p:spPr>
        <p:txBody>
          <a:bodyPr wrap="square" lIns="0" tIns="0" rIns="0" bIns="0" rtlCol="0" anchor="ctr"/>
          <a:lstStyle/>
          <a:p>
            <a:pPr indent="0" marL="0">
              <a:buNone/>
            </a:pPr>
            <a:r>
              <a:rPr lang="en-US" sz="1400" b="1" dirty="0">
                <a:solidFill>
                  <a:schemeClr val="tx1"/>
                </a:solidFill>
              </a:rPr>
              <a:t>Scheduler</a:t>
            </a:r>
            <a:endParaRPr lang="en-US" sz="1400" dirty="0"/>
          </a:p>
        </p:txBody>
      </p:sp>
      <p:sp>
        <p:nvSpPr>
          <p:cNvPr id="17" name="Text 15"/>
          <p:cNvSpPr txBox="1"/>
          <p:nvPr/>
        </p:nvSpPr>
        <p:spPr>
          <a:xfrm>
            <a:off x="5669280" y="1691640"/>
            <a:ext cx="1197864" cy="777240"/>
          </a:xfrm>
          <a:prstGeom prst="rect">
            <a:avLst/>
          </a:prstGeom>
          <a:noFill/>
          <a:ln/>
        </p:spPr>
        <p:txBody>
          <a:bodyPr wrap="square" lIns="0" tIns="0" rIns="0" bIns="0" rtlCol="0" anchor="t"/>
          <a:lstStyle/>
          <a:p>
            <a:pPr indent="0" marL="0">
              <a:buNone/>
            </a:pPr>
            <a:r>
              <a:rPr lang="en-US" sz="1200" dirty="0">
                <a:solidFill>
                  <a:schemeClr val="tx1"/>
                </a:solidFill>
              </a:rPr>
              <a:t>Runs in the background, picks timing</a:t>
            </a:r>
            <a:endParaRPr lang="en-US" sz="1200" dirty="0"/>
          </a:p>
        </p:txBody>
      </p:sp>
      <p:sp>
        <p:nvSpPr>
          <p:cNvPr id="18" name="Arrow 4"/>
          <p:cNvSpPr/>
          <p:nvPr/>
        </p:nvSpPr>
        <p:spPr>
          <a:xfrm>
            <a:off x="7004304" y="1783080"/>
            <a:ext cx="228600" cy="256032"/>
          </a:xfrm>
          <a:prstGeom prst="rightArrow">
            <a:avLst/>
          </a:prstGeom>
          <a:solidFill>
            <a:schemeClr val="accent1"/>
          </a:solidFill>
          <a:ln/>
        </p:spPr>
      </p:sp>
      <p:sp>
        <p:nvSpPr>
          <p:cNvPr id="19" name="Notifications box"/>
          <p:cNvSpPr/>
          <p:nvPr/>
        </p:nvSpPr>
        <p:spPr>
          <a:xfrm>
            <a:off x="7260336" y="1280160"/>
            <a:ext cx="1417320" cy="1280160"/>
          </a:xfrm>
          <a:prstGeom prst="roundRect">
            <a:avLst>
              <a:gd name="adj" fmla="val 8571"/>
            </a:avLst>
          </a:prstGeom>
          <a:solidFill>
            <a:schemeClr val="accent1"/>
          </a:solidFill>
          <a:ln/>
        </p:spPr>
      </p:sp>
      <p:sp>
        <p:nvSpPr>
          <p:cNvPr id="20" name="Text 18"/>
          <p:cNvSpPr txBox="1"/>
          <p:nvPr/>
        </p:nvSpPr>
        <p:spPr>
          <a:xfrm>
            <a:off x="7370064" y="1371600"/>
            <a:ext cx="1197864" cy="292608"/>
          </a:xfrm>
          <a:prstGeom prst="rect">
            <a:avLst/>
          </a:prstGeom>
          <a:noFill/>
          <a:ln/>
        </p:spPr>
        <p:txBody>
          <a:bodyPr wrap="square" lIns="0" tIns="0" rIns="0" bIns="0" rtlCol="0" anchor="ctr"/>
          <a:lstStyle/>
          <a:p>
            <a:pPr indent="0" marL="0">
              <a:buNone/>
            </a:pPr>
            <a:r>
              <a:rPr lang="en-US" sz="1400" b="1" dirty="0">
                <a:solidFill>
                  <a:schemeClr val="bg1"/>
                </a:solidFill>
              </a:rPr>
              <a:t>Notifications</a:t>
            </a:r>
            <a:endParaRPr lang="en-US" sz="1400" dirty="0"/>
          </a:p>
        </p:txBody>
      </p:sp>
      <p:sp>
        <p:nvSpPr>
          <p:cNvPr id="21" name="Text 19"/>
          <p:cNvSpPr txBox="1"/>
          <p:nvPr/>
        </p:nvSpPr>
        <p:spPr>
          <a:xfrm>
            <a:off x="7370064" y="1691640"/>
            <a:ext cx="1197864" cy="777240"/>
          </a:xfrm>
          <a:prstGeom prst="rect">
            <a:avLst/>
          </a:prstGeom>
          <a:noFill/>
          <a:ln/>
        </p:spPr>
        <p:txBody>
          <a:bodyPr wrap="square" lIns="0" tIns="0" rIns="0" bIns="0" rtlCol="0" anchor="t"/>
          <a:lstStyle/>
          <a:p>
            <a:pPr indent="0" marL="0">
              <a:buNone/>
            </a:pPr>
            <a:r>
              <a:rPr lang="en-US" sz="1200" dirty="0">
                <a:solidFill>
                  <a:schemeClr val="bg1"/>
                </a:solidFill>
              </a:rPr>
              <a:t>Telegram, email, push</a:t>
            </a:r>
            <a:endParaRPr lang="en-US" sz="1200" dirty="0"/>
          </a:p>
        </p:txBody>
      </p:sp>
      <p:sp>
        <p:nvSpPr>
          <p:cNvPr id="22" name="Text 20"/>
          <p:cNvSpPr txBox="1"/>
          <p:nvPr/>
        </p:nvSpPr>
        <p:spPr>
          <a:xfrm>
            <a:off x="457200" y="2651760"/>
            <a:ext cx="8229600" cy="274320"/>
          </a:xfrm>
          <a:prstGeom prst="rect">
            <a:avLst/>
          </a:prstGeom>
          <a:noFill/>
          <a:ln/>
        </p:spPr>
        <p:txBody>
          <a:bodyPr wrap="square" lIns="0" tIns="0" rIns="0" bIns="0" rtlCol="0" anchor="ctr"/>
          <a:lstStyle/>
          <a:p>
            <a:pPr indent="0" marL="0">
              <a:buNone/>
            </a:pPr>
            <a:r>
              <a:rPr lang="en-US" sz="1200" i="1" dirty="0">
                <a:solidFill>
                  <a:schemeClr val="tx1"/>
                </a:solidFill>
              </a:rPr>
              <a:t>Feedback loop: what the student acts on improves the next reminders.</a:t>
            </a:r>
            <a:endParaRPr lang="en-US" sz="1200" dirty="0"/>
          </a:p>
        </p:txBody>
      </p:sp>
      <p:sp>
        <p:nvSpPr>
          <p:cNvPr id="23" name="Priority card"/>
          <p:cNvSpPr/>
          <p:nvPr/>
        </p:nvSpPr>
        <p:spPr>
          <a:xfrm>
            <a:off x="457200" y="3063240"/>
            <a:ext cx="4023360" cy="1554480"/>
          </a:xfrm>
          <a:prstGeom prst="roundRect">
            <a:avLst>
              <a:gd name="adj" fmla="val 7059"/>
            </a:avLst>
          </a:prstGeom>
          <a:solidFill>
            <a:schemeClr val="tx2"/>
          </a:solidFill>
          <a:ln/>
        </p:spPr>
      </p:sp>
      <p:sp>
        <p:nvSpPr>
          <p:cNvPr id="24" name="Text 22"/>
          <p:cNvSpPr txBox="1"/>
          <p:nvPr/>
        </p:nvSpPr>
        <p:spPr>
          <a:xfrm>
            <a:off x="685800" y="3200400"/>
            <a:ext cx="3566160" cy="274320"/>
          </a:xfrm>
          <a:prstGeom prst="rect">
            <a:avLst/>
          </a:prstGeom>
          <a:noFill/>
          <a:ln/>
        </p:spPr>
        <p:txBody>
          <a:bodyPr wrap="square" lIns="0" tIns="0" rIns="0" bIns="0" rtlCol="0" anchor="ctr"/>
          <a:lstStyle/>
          <a:p>
            <a:pPr indent="0" marL="0">
              <a:buNone/>
            </a:pPr>
            <a:r>
              <a:rPr lang="en-US" sz="1400" b="1" dirty="0">
                <a:solidFill>
                  <a:schemeClr val="accent2"/>
                </a:solidFill>
              </a:rPr>
              <a:t>Priority score</a:t>
            </a:r>
            <a:endParaRPr lang="en-US" sz="1400" dirty="0"/>
          </a:p>
        </p:txBody>
      </p:sp>
      <p:sp>
        <p:nvSpPr>
          <p:cNvPr id="25" name="Text 23"/>
          <p:cNvSpPr txBox="1"/>
          <p:nvPr/>
        </p:nvSpPr>
        <p:spPr>
          <a:xfrm>
            <a:off x="685800" y="3520440"/>
            <a:ext cx="3657600" cy="457200"/>
          </a:xfrm>
          <a:prstGeom prst="rect">
            <a:avLst/>
          </a:prstGeom>
          <a:noFill/>
          <a:ln/>
        </p:spPr>
        <p:txBody>
          <a:bodyPr wrap="square" lIns="0" tIns="0" rIns="0" bIns="0" rtlCol="0" anchor="t"/>
          <a:lstStyle/>
          <a:p>
            <a:pPr indent="0" marL="0">
              <a:buNone/>
            </a:pPr>
            <a:r>
              <a:rPr lang="en-US" sz="1400" b="1" dirty="0">
                <a:solidFill>
                  <a:schemeClr val="bg1"/>
                </a:solidFill>
              </a:rPr>
              <a:t>50% urgency + 30% importance + 20% effort</a:t>
            </a:r>
            <a:endParaRPr lang="en-US" sz="1400" dirty="0"/>
          </a:p>
        </p:txBody>
      </p:sp>
      <p:sp>
        <p:nvSpPr>
          <p:cNvPr id="26" name="Text 24"/>
          <p:cNvSpPr txBox="1"/>
          <p:nvPr/>
        </p:nvSpPr>
        <p:spPr>
          <a:xfrm>
            <a:off x="685800" y="4069080"/>
            <a:ext cx="3566160" cy="457200"/>
          </a:xfrm>
          <a:prstGeom prst="rect">
            <a:avLst/>
          </a:prstGeom>
          <a:noFill/>
          <a:ln/>
        </p:spPr>
        <p:txBody>
          <a:bodyPr wrap="square" lIns="0" tIns="0" rIns="0" bIns="0" rtlCol="0" anchor="t"/>
          <a:lstStyle/>
          <a:p>
            <a:pPr indent="0" marL="0">
              <a:buNone/>
            </a:pPr>
            <a:r>
              <a:rPr lang="en-US" sz="1200" dirty="0">
                <a:solidFill>
                  <a:schemeClr val="bg2"/>
                </a:solidFill>
              </a:rPr>
              <a:t>Importance uses marks and task type. Overdue tasks stay Critical.</a:t>
            </a:r>
            <a:endParaRPr lang="en-US" sz="1200" dirty="0"/>
          </a:p>
        </p:txBody>
      </p:sp>
      <p:sp>
        <p:nvSpPr>
          <p:cNvPr id="27" name="Text 25"/>
          <p:cNvSpPr txBox="1"/>
          <p:nvPr/>
        </p:nvSpPr>
        <p:spPr>
          <a:xfrm>
            <a:off x="4663440" y="3063240"/>
            <a:ext cx="4023360" cy="274320"/>
          </a:xfrm>
          <a:prstGeom prst="rect">
            <a:avLst/>
          </a:prstGeom>
          <a:noFill/>
          <a:ln/>
        </p:spPr>
        <p:txBody>
          <a:bodyPr wrap="square" lIns="0" tIns="0" rIns="0" bIns="0" rtlCol="0" anchor="ctr"/>
          <a:lstStyle/>
          <a:p>
            <a:pPr indent="0" marL="0">
              <a:buNone/>
            </a:pPr>
            <a:r>
              <a:rPr lang="en-US" sz="1400" b="1" dirty="0">
                <a:solidFill>
                  <a:schemeClr val="tx2"/>
                </a:solidFill>
              </a:rPr>
              <a:t>Tech stack</a:t>
            </a:r>
            <a:endParaRPr lang="en-US" sz="1400" dirty="0"/>
          </a:p>
        </p:txBody>
      </p:sp>
      <p:sp>
        <p:nvSpPr>
          <p:cNvPr id="28" name="Python + FastAPI tag"/>
          <p:cNvSpPr/>
          <p:nvPr/>
        </p:nvSpPr>
        <p:spPr>
          <a:xfrm>
            <a:off x="4663440" y="3429000"/>
            <a:ext cx="1965960" cy="329184"/>
          </a:xfrm>
          <a:prstGeom prst="roundRect">
            <a:avLst>
              <a:gd name="adj" fmla="val 50000"/>
            </a:avLst>
          </a:prstGeom>
          <a:solidFill>
            <a:schemeClr val="bg2"/>
          </a:solidFill>
          <a:ln/>
        </p:spPr>
      </p:sp>
      <p:sp>
        <p:nvSpPr>
          <p:cNvPr id="29" name="Text 27"/>
          <p:cNvSpPr txBox="1"/>
          <p:nvPr/>
        </p:nvSpPr>
        <p:spPr>
          <a:xfrm>
            <a:off x="4663440" y="3429000"/>
            <a:ext cx="1965960" cy="329184"/>
          </a:xfrm>
          <a:prstGeom prst="rect">
            <a:avLst/>
          </a:prstGeom>
          <a:noFill/>
          <a:ln/>
        </p:spPr>
        <p:txBody>
          <a:bodyPr wrap="square" lIns="0" tIns="0" rIns="0" bIns="0" rtlCol="0" anchor="ctr"/>
          <a:lstStyle/>
          <a:p>
            <a:pPr algn="ctr" indent="0" marL="0">
              <a:buNone/>
            </a:pPr>
            <a:r>
              <a:rPr lang="en-US" sz="1200" b="1" dirty="0">
                <a:solidFill>
                  <a:schemeClr val="tx1"/>
                </a:solidFill>
              </a:rPr>
              <a:t>Python + FastAPI</a:t>
            </a:r>
            <a:endParaRPr lang="en-US" sz="1200" dirty="0"/>
          </a:p>
        </p:txBody>
      </p:sp>
      <p:sp>
        <p:nvSpPr>
          <p:cNvPr id="30" name="Claude API tag"/>
          <p:cNvSpPr/>
          <p:nvPr/>
        </p:nvSpPr>
        <p:spPr>
          <a:xfrm>
            <a:off x="6720840" y="3429000"/>
            <a:ext cx="1965960" cy="329184"/>
          </a:xfrm>
          <a:prstGeom prst="roundRect">
            <a:avLst>
              <a:gd name="adj" fmla="val 50000"/>
            </a:avLst>
          </a:prstGeom>
          <a:solidFill>
            <a:schemeClr val="bg2"/>
          </a:solidFill>
          <a:ln/>
        </p:spPr>
      </p:sp>
      <p:sp>
        <p:nvSpPr>
          <p:cNvPr id="31" name="Text 29"/>
          <p:cNvSpPr txBox="1"/>
          <p:nvPr/>
        </p:nvSpPr>
        <p:spPr>
          <a:xfrm>
            <a:off x="6720840" y="3429000"/>
            <a:ext cx="1965960" cy="329184"/>
          </a:xfrm>
          <a:prstGeom prst="rect">
            <a:avLst/>
          </a:prstGeom>
          <a:noFill/>
          <a:ln/>
        </p:spPr>
        <p:txBody>
          <a:bodyPr wrap="square" lIns="0" tIns="0" rIns="0" bIns="0" rtlCol="0" anchor="ctr"/>
          <a:lstStyle/>
          <a:p>
            <a:pPr algn="ctr" indent="0" marL="0">
              <a:buNone/>
            </a:pPr>
            <a:r>
              <a:rPr lang="en-US" sz="1200" b="1" dirty="0">
                <a:solidFill>
                  <a:schemeClr val="tx1"/>
                </a:solidFill>
              </a:rPr>
              <a:t>Claude API</a:t>
            </a:r>
            <a:endParaRPr lang="en-US" sz="1200" dirty="0"/>
          </a:p>
        </p:txBody>
      </p:sp>
      <p:sp>
        <p:nvSpPr>
          <p:cNvPr id="32" name="Gmail and Calendar APIs tag"/>
          <p:cNvSpPr/>
          <p:nvPr/>
        </p:nvSpPr>
        <p:spPr>
          <a:xfrm>
            <a:off x="4663440" y="3822192"/>
            <a:ext cx="1965960" cy="329184"/>
          </a:xfrm>
          <a:prstGeom prst="roundRect">
            <a:avLst>
              <a:gd name="adj" fmla="val 50000"/>
            </a:avLst>
          </a:prstGeom>
          <a:solidFill>
            <a:schemeClr val="bg2"/>
          </a:solidFill>
          <a:ln/>
        </p:spPr>
      </p:sp>
      <p:sp>
        <p:nvSpPr>
          <p:cNvPr id="33" name="Text 31"/>
          <p:cNvSpPr txBox="1"/>
          <p:nvPr/>
        </p:nvSpPr>
        <p:spPr>
          <a:xfrm>
            <a:off x="4663440" y="3822192"/>
            <a:ext cx="1965960" cy="329184"/>
          </a:xfrm>
          <a:prstGeom prst="rect">
            <a:avLst/>
          </a:prstGeom>
          <a:noFill/>
          <a:ln/>
        </p:spPr>
        <p:txBody>
          <a:bodyPr wrap="square" lIns="0" tIns="0" rIns="0" bIns="0" rtlCol="0" anchor="ctr"/>
          <a:lstStyle/>
          <a:p>
            <a:pPr algn="ctr" indent="0" marL="0">
              <a:buNone/>
            </a:pPr>
            <a:r>
              <a:rPr lang="en-US" sz="1200" b="1" dirty="0">
                <a:solidFill>
                  <a:schemeClr val="tx1"/>
                </a:solidFill>
              </a:rPr>
              <a:t>Gmail and Calendar APIs</a:t>
            </a:r>
            <a:endParaRPr lang="en-US" sz="1200" dirty="0"/>
          </a:p>
        </p:txBody>
      </p:sp>
      <p:sp>
        <p:nvSpPr>
          <p:cNvPr id="34" name="Telegram Bot API tag"/>
          <p:cNvSpPr/>
          <p:nvPr/>
        </p:nvSpPr>
        <p:spPr>
          <a:xfrm>
            <a:off x="6720840" y="3822192"/>
            <a:ext cx="1965960" cy="329184"/>
          </a:xfrm>
          <a:prstGeom prst="roundRect">
            <a:avLst>
              <a:gd name="adj" fmla="val 50000"/>
            </a:avLst>
          </a:prstGeom>
          <a:solidFill>
            <a:schemeClr val="bg2"/>
          </a:solidFill>
          <a:ln/>
        </p:spPr>
      </p:sp>
      <p:sp>
        <p:nvSpPr>
          <p:cNvPr id="35" name="Text 33"/>
          <p:cNvSpPr txBox="1"/>
          <p:nvPr/>
        </p:nvSpPr>
        <p:spPr>
          <a:xfrm>
            <a:off x="6720840" y="3822192"/>
            <a:ext cx="1965960" cy="329184"/>
          </a:xfrm>
          <a:prstGeom prst="rect">
            <a:avLst/>
          </a:prstGeom>
          <a:noFill/>
          <a:ln/>
        </p:spPr>
        <p:txBody>
          <a:bodyPr wrap="square" lIns="0" tIns="0" rIns="0" bIns="0" rtlCol="0" anchor="ctr"/>
          <a:lstStyle/>
          <a:p>
            <a:pPr algn="ctr" indent="0" marL="0">
              <a:buNone/>
            </a:pPr>
            <a:r>
              <a:rPr lang="en-US" sz="1200" b="1" dirty="0">
                <a:solidFill>
                  <a:schemeClr val="tx1"/>
                </a:solidFill>
              </a:rPr>
              <a:t>Telegram Bot API</a:t>
            </a:r>
            <a:endParaRPr lang="en-US" sz="1200" dirty="0"/>
          </a:p>
        </p:txBody>
      </p:sp>
      <p:sp>
        <p:nvSpPr>
          <p:cNvPr id="36" name="SQLite tag"/>
          <p:cNvSpPr/>
          <p:nvPr/>
        </p:nvSpPr>
        <p:spPr>
          <a:xfrm>
            <a:off x="4663440" y="4215384"/>
            <a:ext cx="1965960" cy="329184"/>
          </a:xfrm>
          <a:prstGeom prst="roundRect">
            <a:avLst>
              <a:gd name="adj" fmla="val 50000"/>
            </a:avLst>
          </a:prstGeom>
          <a:solidFill>
            <a:schemeClr val="bg2"/>
          </a:solidFill>
          <a:ln/>
        </p:spPr>
      </p:sp>
      <p:sp>
        <p:nvSpPr>
          <p:cNvPr id="37" name="Text 35"/>
          <p:cNvSpPr txBox="1"/>
          <p:nvPr/>
        </p:nvSpPr>
        <p:spPr>
          <a:xfrm>
            <a:off x="4663440" y="4215384"/>
            <a:ext cx="1965960" cy="329184"/>
          </a:xfrm>
          <a:prstGeom prst="rect">
            <a:avLst/>
          </a:prstGeom>
          <a:noFill/>
          <a:ln/>
        </p:spPr>
        <p:txBody>
          <a:bodyPr wrap="square" lIns="0" tIns="0" rIns="0" bIns="0" rtlCol="0" anchor="ctr"/>
          <a:lstStyle/>
          <a:p>
            <a:pPr algn="ctr" indent="0" marL="0">
              <a:buNone/>
            </a:pPr>
            <a:r>
              <a:rPr lang="en-US" sz="1200" b="1" dirty="0">
                <a:solidFill>
                  <a:schemeClr val="tx1"/>
                </a:solidFill>
              </a:rPr>
              <a:t>SQLite</a:t>
            </a:r>
            <a:endParaRPr lang="en-US" sz="1200" dirty="0"/>
          </a:p>
        </p:txBody>
      </p:sp>
      <p:sp>
        <p:nvSpPr>
          <p:cNvPr id="38" name="APScheduler tag"/>
          <p:cNvSpPr/>
          <p:nvPr/>
        </p:nvSpPr>
        <p:spPr>
          <a:xfrm>
            <a:off x="6720840" y="4215384"/>
            <a:ext cx="1965960" cy="329184"/>
          </a:xfrm>
          <a:prstGeom prst="roundRect">
            <a:avLst>
              <a:gd name="adj" fmla="val 50000"/>
            </a:avLst>
          </a:prstGeom>
          <a:solidFill>
            <a:schemeClr val="bg2"/>
          </a:solidFill>
          <a:ln/>
        </p:spPr>
      </p:sp>
      <p:sp>
        <p:nvSpPr>
          <p:cNvPr id="39" name="Text 37"/>
          <p:cNvSpPr txBox="1"/>
          <p:nvPr/>
        </p:nvSpPr>
        <p:spPr>
          <a:xfrm>
            <a:off x="6720840" y="4215384"/>
            <a:ext cx="1965960" cy="329184"/>
          </a:xfrm>
          <a:prstGeom prst="rect">
            <a:avLst/>
          </a:prstGeom>
          <a:noFill/>
          <a:ln/>
        </p:spPr>
        <p:txBody>
          <a:bodyPr wrap="square" lIns="0" tIns="0" rIns="0" bIns="0" rtlCol="0" anchor="ctr"/>
          <a:lstStyle/>
          <a:p>
            <a:pPr algn="ctr" indent="0" marL="0">
              <a:buNone/>
            </a:pPr>
            <a:r>
              <a:rPr lang="en-US" sz="1200" b="1" dirty="0">
                <a:solidFill>
                  <a:schemeClr val="tx1"/>
                </a:solidFill>
              </a:rPr>
              <a:t>APScheduler</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Prototype: dashboard and reminders</a:t>
            </a:r>
            <a:endParaRPr lang="en-US" sz="3000" dirty="0"/>
          </a:p>
        </p:txBody>
      </p:sp>
      <p:sp>
        <p:nvSpPr>
          <p:cNvPr id="3" name="Dashboard frame"/>
          <p:cNvSpPr/>
          <p:nvPr/>
        </p:nvSpPr>
        <p:spPr>
          <a:xfrm>
            <a:off x="457200" y="1234440"/>
            <a:ext cx="5120640" cy="3246120"/>
          </a:xfrm>
          <a:prstGeom prst="roundRect">
            <a:avLst>
              <a:gd name="adj" fmla="val 3380"/>
            </a:avLst>
          </a:prstGeom>
          <a:solidFill>
            <a:schemeClr val="bg2"/>
          </a:solidFill>
          <a:ln w="12700">
            <a:solidFill>
              <a:srgbClr val="D0DFD9"/>
            </a:solidFill>
            <a:prstDash val="solid"/>
          </a:ln>
        </p:spPr>
      </p:sp>
      <p:sp>
        <p:nvSpPr>
          <p:cNvPr id="4" name="Hero card"/>
          <p:cNvSpPr/>
          <p:nvPr/>
        </p:nvSpPr>
        <p:spPr>
          <a:xfrm>
            <a:off x="594360" y="1371600"/>
            <a:ext cx="4846320" cy="914400"/>
          </a:xfrm>
          <a:prstGeom prst="roundRect">
            <a:avLst>
              <a:gd name="adj" fmla="val 12000"/>
            </a:avLst>
          </a:prstGeom>
          <a:solidFill>
            <a:schemeClr val="tx2"/>
          </a:solidFill>
          <a:ln/>
        </p:spPr>
      </p:sp>
      <p:sp>
        <p:nvSpPr>
          <p:cNvPr id="5" name="Text 3"/>
          <p:cNvSpPr txBox="1"/>
          <p:nvPr/>
        </p:nvSpPr>
        <p:spPr>
          <a:xfrm>
            <a:off x="777240" y="1444752"/>
            <a:ext cx="2286000" cy="228600"/>
          </a:xfrm>
          <a:prstGeom prst="rect">
            <a:avLst/>
          </a:prstGeom>
          <a:noFill/>
          <a:ln/>
        </p:spPr>
        <p:txBody>
          <a:bodyPr wrap="square" lIns="0" tIns="0" rIns="0" bIns="0" rtlCol="0" anchor="ctr"/>
          <a:lstStyle/>
          <a:p>
            <a:pPr indent="0" marL="0">
              <a:buNone/>
            </a:pPr>
            <a:r>
              <a:rPr lang="en-US" sz="1200" b="1" dirty="0">
                <a:solidFill>
                  <a:schemeClr val="accent2"/>
                </a:solidFill>
              </a:rPr>
              <a:t>Do this first</a:t>
            </a:r>
            <a:endParaRPr lang="en-US" sz="1200" dirty="0"/>
          </a:p>
        </p:txBody>
      </p:sp>
      <p:sp>
        <p:nvSpPr>
          <p:cNvPr id="6" name="Text 4"/>
          <p:cNvSpPr txBox="1"/>
          <p:nvPr/>
        </p:nvSpPr>
        <p:spPr>
          <a:xfrm>
            <a:off x="777240" y="1691640"/>
            <a:ext cx="2743200" cy="457200"/>
          </a:xfrm>
          <a:prstGeom prst="rect">
            <a:avLst/>
          </a:prstGeom>
          <a:noFill/>
          <a:ln/>
        </p:spPr>
        <p:txBody>
          <a:bodyPr wrap="square" lIns="0" tIns="0" rIns="0" bIns="0" rtlCol="0" anchor="ctr"/>
          <a:lstStyle/>
          <a:p>
            <a:pPr indent="0" marL="0">
              <a:buNone/>
            </a:pPr>
            <a:r>
              <a:rPr lang="en-US" sz="2000" b="1" dirty="0">
                <a:solidFill>
                  <a:schemeClr val="bg1"/>
                </a:solidFill>
              </a:rPr>
              <a:t>OS Quiz</a:t>
            </a:r>
            <a:endParaRPr lang="en-US" sz="2000" dirty="0"/>
          </a:p>
        </p:txBody>
      </p:sp>
      <p:sp>
        <p:nvSpPr>
          <p:cNvPr id="7" name="Text 5"/>
          <p:cNvSpPr txBox="1"/>
          <p:nvPr/>
        </p:nvSpPr>
        <p:spPr>
          <a:xfrm>
            <a:off x="3429000" y="1463040"/>
            <a:ext cx="1828800" cy="731520"/>
          </a:xfrm>
          <a:prstGeom prst="rect">
            <a:avLst/>
          </a:prstGeom>
          <a:noFill/>
          <a:ln/>
        </p:spPr>
        <p:txBody>
          <a:bodyPr wrap="square" lIns="0" tIns="0" rIns="0" bIns="0" rtlCol="0" anchor="ctr"/>
          <a:lstStyle/>
          <a:p>
            <a:pPr algn="r" indent="0" marL="0">
              <a:buNone/>
            </a:pPr>
            <a:r>
              <a:rPr lang="en-US" sz="2000" b="1" dirty="0">
                <a:solidFill>
                  <a:schemeClr val="accent2"/>
                </a:solidFill>
              </a:rPr>
              <a:t>4h 12m left</a:t>
            </a:r>
            <a:endParaRPr lang="en-US" sz="2000" dirty="0"/>
          </a:p>
        </p:txBody>
      </p:sp>
      <p:sp>
        <p:nvSpPr>
          <p:cNvPr id="8" name="Overdue tile"/>
          <p:cNvSpPr/>
          <p:nvPr/>
        </p:nvSpPr>
        <p:spPr>
          <a:xfrm>
            <a:off x="594360" y="2395728"/>
            <a:ext cx="1143000" cy="566928"/>
          </a:xfrm>
          <a:prstGeom prst="roundRect">
            <a:avLst>
              <a:gd name="adj" fmla="val 19355"/>
            </a:avLst>
          </a:prstGeom>
          <a:solidFill>
            <a:schemeClr val="bg1"/>
          </a:solidFill>
          <a:ln/>
        </p:spPr>
      </p:sp>
      <p:sp>
        <p:nvSpPr>
          <p:cNvPr id="9" name="Text 7"/>
          <p:cNvSpPr txBox="1"/>
          <p:nvPr/>
        </p:nvSpPr>
        <p:spPr>
          <a:xfrm>
            <a:off x="704088" y="2395728"/>
            <a:ext cx="960120" cy="566928"/>
          </a:xfrm>
          <a:prstGeom prst="rect">
            <a:avLst/>
          </a:prstGeom>
          <a:noFill/>
          <a:ln/>
        </p:spPr>
        <p:txBody>
          <a:bodyPr wrap="square" lIns="0" tIns="0" rIns="0" bIns="0" rtlCol="0" anchor="ctr"/>
          <a:lstStyle/>
          <a:p>
            <a:pPr indent="0" marL="0">
              <a:buNone/>
            </a:pPr>
            <a:r>
              <a:rPr lang="en-US" sz="1800" b="1" dirty="0">
                <a:solidFill>
                  <a:schemeClr val="accent3"/>
                </a:solidFill>
              </a:rPr>
              <a:t>1 </a:t>
            </a:r>
            <a:pPr indent="0" marL="0">
              <a:buNone/>
            </a:pPr>
            <a:r>
              <a:rPr lang="en-US" sz="1200" dirty="0">
                <a:solidFill>
                  <a:schemeClr val="tx1"/>
                </a:solidFill>
              </a:rPr>
              <a:t>Overdue</a:t>
            </a:r>
            <a:endParaRPr lang="en-US" sz="1800" dirty="0"/>
          </a:p>
        </p:txBody>
      </p:sp>
      <p:sp>
        <p:nvSpPr>
          <p:cNvPr id="10" name="Today tile"/>
          <p:cNvSpPr/>
          <p:nvPr/>
        </p:nvSpPr>
        <p:spPr>
          <a:xfrm>
            <a:off x="1828800" y="2395728"/>
            <a:ext cx="1143000" cy="566928"/>
          </a:xfrm>
          <a:prstGeom prst="roundRect">
            <a:avLst>
              <a:gd name="adj" fmla="val 19355"/>
            </a:avLst>
          </a:prstGeom>
          <a:solidFill>
            <a:schemeClr val="bg1"/>
          </a:solidFill>
          <a:ln/>
        </p:spPr>
      </p:sp>
      <p:sp>
        <p:nvSpPr>
          <p:cNvPr id="11" name="Text 9"/>
          <p:cNvSpPr txBox="1"/>
          <p:nvPr/>
        </p:nvSpPr>
        <p:spPr>
          <a:xfrm>
            <a:off x="1938528" y="2395728"/>
            <a:ext cx="960120" cy="566928"/>
          </a:xfrm>
          <a:prstGeom prst="rect">
            <a:avLst/>
          </a:prstGeom>
          <a:noFill/>
          <a:ln/>
        </p:spPr>
        <p:txBody>
          <a:bodyPr wrap="square" lIns="0" tIns="0" rIns="0" bIns="0" rtlCol="0" anchor="ctr"/>
          <a:lstStyle/>
          <a:p>
            <a:pPr indent="0" marL="0">
              <a:buNone/>
            </a:pPr>
            <a:r>
              <a:rPr lang="en-US" sz="1800" b="1" dirty="0">
                <a:solidFill>
                  <a:schemeClr val="accent4"/>
                </a:solidFill>
              </a:rPr>
              <a:t>1 </a:t>
            </a:r>
            <a:pPr indent="0" marL="0">
              <a:buNone/>
            </a:pPr>
            <a:r>
              <a:rPr lang="en-US" sz="1200" dirty="0">
                <a:solidFill>
                  <a:schemeClr val="tx1"/>
                </a:solidFill>
              </a:rPr>
              <a:t>Today</a:t>
            </a:r>
            <a:endParaRPr lang="en-US" sz="1800" dirty="0"/>
          </a:p>
        </p:txBody>
      </p:sp>
      <p:sp>
        <p:nvSpPr>
          <p:cNvPr id="12" name="Upcoming tile"/>
          <p:cNvSpPr/>
          <p:nvPr/>
        </p:nvSpPr>
        <p:spPr>
          <a:xfrm>
            <a:off x="3063240" y="2395728"/>
            <a:ext cx="1143000" cy="566928"/>
          </a:xfrm>
          <a:prstGeom prst="roundRect">
            <a:avLst>
              <a:gd name="adj" fmla="val 19355"/>
            </a:avLst>
          </a:prstGeom>
          <a:solidFill>
            <a:schemeClr val="bg1"/>
          </a:solidFill>
          <a:ln/>
        </p:spPr>
      </p:sp>
      <p:sp>
        <p:nvSpPr>
          <p:cNvPr id="13" name="Text 11"/>
          <p:cNvSpPr txBox="1"/>
          <p:nvPr/>
        </p:nvSpPr>
        <p:spPr>
          <a:xfrm>
            <a:off x="3172968" y="2395728"/>
            <a:ext cx="960120" cy="566928"/>
          </a:xfrm>
          <a:prstGeom prst="rect">
            <a:avLst/>
          </a:prstGeom>
          <a:noFill/>
          <a:ln/>
        </p:spPr>
        <p:txBody>
          <a:bodyPr wrap="square" lIns="0" tIns="0" rIns="0" bIns="0" rtlCol="0" anchor="ctr"/>
          <a:lstStyle/>
          <a:p>
            <a:pPr indent="0" marL="0">
              <a:buNone/>
            </a:pPr>
            <a:r>
              <a:rPr lang="en-US" sz="1800" b="1" dirty="0">
                <a:solidFill>
                  <a:schemeClr val="accent5"/>
                </a:solidFill>
              </a:rPr>
              <a:t>3 </a:t>
            </a:r>
            <a:pPr indent="0" marL="0">
              <a:buNone/>
            </a:pPr>
            <a:r>
              <a:rPr lang="en-US" sz="1200" dirty="0">
                <a:solidFill>
                  <a:schemeClr val="tx1"/>
                </a:solidFill>
              </a:rPr>
              <a:t>Upcoming</a:t>
            </a:r>
            <a:endParaRPr lang="en-US" sz="1800" dirty="0"/>
          </a:p>
        </p:txBody>
      </p:sp>
      <p:sp>
        <p:nvSpPr>
          <p:cNvPr id="14" name="Done tile"/>
          <p:cNvSpPr/>
          <p:nvPr/>
        </p:nvSpPr>
        <p:spPr>
          <a:xfrm>
            <a:off x="4297680" y="2395728"/>
            <a:ext cx="1143000" cy="566928"/>
          </a:xfrm>
          <a:prstGeom prst="roundRect">
            <a:avLst>
              <a:gd name="adj" fmla="val 19355"/>
            </a:avLst>
          </a:prstGeom>
          <a:solidFill>
            <a:schemeClr val="bg1"/>
          </a:solidFill>
          <a:ln/>
        </p:spPr>
      </p:sp>
      <p:sp>
        <p:nvSpPr>
          <p:cNvPr id="15" name="Text 13"/>
          <p:cNvSpPr txBox="1"/>
          <p:nvPr/>
        </p:nvSpPr>
        <p:spPr>
          <a:xfrm>
            <a:off x="4407408" y="2395728"/>
            <a:ext cx="960120" cy="566928"/>
          </a:xfrm>
          <a:prstGeom prst="rect">
            <a:avLst/>
          </a:prstGeom>
          <a:noFill/>
          <a:ln/>
        </p:spPr>
        <p:txBody>
          <a:bodyPr wrap="square" lIns="0" tIns="0" rIns="0" bIns="0" rtlCol="0" anchor="ctr"/>
          <a:lstStyle/>
          <a:p>
            <a:pPr indent="0" marL="0">
              <a:buNone/>
            </a:pPr>
            <a:r>
              <a:rPr lang="en-US" sz="1800" b="1" dirty="0">
                <a:solidFill>
                  <a:schemeClr val="accent6"/>
                </a:solidFill>
              </a:rPr>
              <a:t>1 </a:t>
            </a:r>
            <a:pPr indent="0" marL="0">
              <a:buNone/>
            </a:pPr>
            <a:r>
              <a:rPr lang="en-US" sz="1200" dirty="0">
                <a:solidFill>
                  <a:schemeClr val="tx1"/>
                </a:solidFill>
              </a:rPr>
              <a:t>Done</a:t>
            </a:r>
            <a:endParaRPr lang="en-US" sz="1800" dirty="0"/>
          </a:p>
        </p:txBody>
      </p:sp>
      <p:sp>
        <p:nvSpPr>
          <p:cNvPr id="16" name="Communication Skills PPT row"/>
          <p:cNvSpPr/>
          <p:nvPr/>
        </p:nvSpPr>
        <p:spPr>
          <a:xfrm>
            <a:off x="594360" y="3072384"/>
            <a:ext cx="4846320" cy="384048"/>
          </a:xfrm>
          <a:prstGeom prst="roundRect">
            <a:avLst>
              <a:gd name="adj" fmla="val 28571"/>
            </a:avLst>
          </a:prstGeom>
          <a:solidFill>
            <a:schemeClr val="bg1"/>
          </a:solidFill>
          <a:ln/>
        </p:spPr>
      </p:sp>
      <p:sp>
        <p:nvSpPr>
          <p:cNvPr id="17" name="Communication Skills PPT score"/>
          <p:cNvSpPr/>
          <p:nvPr/>
        </p:nvSpPr>
        <p:spPr>
          <a:xfrm>
            <a:off x="685800" y="3118104"/>
            <a:ext cx="292608" cy="292608"/>
          </a:xfrm>
          <a:prstGeom prst="ellipse">
            <a:avLst/>
          </a:prstGeom>
          <a:solidFill>
            <a:schemeClr val="accent3"/>
          </a:solidFill>
          <a:ln/>
        </p:spPr>
      </p:sp>
      <p:sp>
        <p:nvSpPr>
          <p:cNvPr id="18" name="Text 16"/>
          <p:cNvSpPr txBox="1"/>
          <p:nvPr/>
        </p:nvSpPr>
        <p:spPr>
          <a:xfrm>
            <a:off x="685800" y="311810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91</a:t>
            </a:r>
            <a:endParaRPr lang="en-US" sz="1200" dirty="0"/>
          </a:p>
        </p:txBody>
      </p:sp>
      <p:sp>
        <p:nvSpPr>
          <p:cNvPr id="19" name="Text 17"/>
          <p:cNvSpPr txBox="1"/>
          <p:nvPr/>
        </p:nvSpPr>
        <p:spPr>
          <a:xfrm>
            <a:off x="1097280" y="3072384"/>
            <a:ext cx="2651760" cy="384048"/>
          </a:xfrm>
          <a:prstGeom prst="rect">
            <a:avLst/>
          </a:prstGeom>
          <a:noFill/>
          <a:ln/>
        </p:spPr>
        <p:txBody>
          <a:bodyPr wrap="square" lIns="0" tIns="0" rIns="0" bIns="0" rtlCol="0" anchor="ctr"/>
          <a:lstStyle/>
          <a:p>
            <a:pPr indent="0" marL="0">
              <a:buNone/>
            </a:pPr>
            <a:r>
              <a:rPr lang="en-US" sz="1400" b="1" dirty="0">
                <a:solidFill>
                  <a:schemeClr val="tx1"/>
                </a:solidFill>
              </a:rPr>
              <a:t>Communication Skills PPT</a:t>
            </a:r>
            <a:endParaRPr lang="en-US" sz="1400" dirty="0"/>
          </a:p>
        </p:txBody>
      </p:sp>
      <p:sp>
        <p:nvSpPr>
          <p:cNvPr id="20" name="Text 18"/>
          <p:cNvSpPr txBox="1"/>
          <p:nvPr/>
        </p:nvSpPr>
        <p:spPr>
          <a:xfrm>
            <a:off x="3931920" y="3072384"/>
            <a:ext cx="1417320" cy="384048"/>
          </a:xfrm>
          <a:prstGeom prst="rect">
            <a:avLst/>
          </a:prstGeom>
          <a:noFill/>
          <a:ln/>
        </p:spPr>
        <p:txBody>
          <a:bodyPr wrap="square" lIns="0" tIns="0" rIns="0" bIns="0" rtlCol="0" anchor="ctr"/>
          <a:lstStyle/>
          <a:p>
            <a:pPr algn="r" indent="0" marL="0">
              <a:buNone/>
            </a:pPr>
            <a:r>
              <a:rPr lang="en-US" sz="1200" b="1" dirty="0">
                <a:solidFill>
                  <a:schemeClr val="accent3"/>
                </a:solidFill>
              </a:rPr>
              <a:t>Overdue</a:t>
            </a:r>
            <a:endParaRPr lang="en-US" sz="1200" dirty="0"/>
          </a:p>
        </p:txBody>
      </p:sp>
      <p:sp>
        <p:nvSpPr>
          <p:cNvPr id="21" name="OS Quiz row"/>
          <p:cNvSpPr/>
          <p:nvPr/>
        </p:nvSpPr>
        <p:spPr>
          <a:xfrm>
            <a:off x="594360" y="3529584"/>
            <a:ext cx="4846320" cy="384048"/>
          </a:xfrm>
          <a:prstGeom prst="roundRect">
            <a:avLst>
              <a:gd name="adj" fmla="val 28571"/>
            </a:avLst>
          </a:prstGeom>
          <a:solidFill>
            <a:schemeClr val="bg1"/>
          </a:solidFill>
          <a:ln/>
        </p:spPr>
      </p:sp>
      <p:sp>
        <p:nvSpPr>
          <p:cNvPr id="22" name="OS Quiz score"/>
          <p:cNvSpPr/>
          <p:nvPr/>
        </p:nvSpPr>
        <p:spPr>
          <a:xfrm>
            <a:off x="685800" y="3575304"/>
            <a:ext cx="292608" cy="292608"/>
          </a:xfrm>
          <a:prstGeom prst="ellipse">
            <a:avLst/>
          </a:prstGeom>
          <a:solidFill>
            <a:schemeClr val="accent3"/>
          </a:solidFill>
          <a:ln/>
        </p:spPr>
      </p:sp>
      <p:sp>
        <p:nvSpPr>
          <p:cNvPr id="23" name="Text 21"/>
          <p:cNvSpPr txBox="1"/>
          <p:nvPr/>
        </p:nvSpPr>
        <p:spPr>
          <a:xfrm>
            <a:off x="685800" y="357530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74</a:t>
            </a:r>
            <a:endParaRPr lang="en-US" sz="1200" dirty="0"/>
          </a:p>
        </p:txBody>
      </p:sp>
      <p:sp>
        <p:nvSpPr>
          <p:cNvPr id="24" name="Text 22"/>
          <p:cNvSpPr txBox="1"/>
          <p:nvPr/>
        </p:nvSpPr>
        <p:spPr>
          <a:xfrm>
            <a:off x="1097280" y="3529584"/>
            <a:ext cx="2651760" cy="384048"/>
          </a:xfrm>
          <a:prstGeom prst="rect">
            <a:avLst/>
          </a:prstGeom>
          <a:noFill/>
          <a:ln/>
        </p:spPr>
        <p:txBody>
          <a:bodyPr wrap="square" lIns="0" tIns="0" rIns="0" bIns="0" rtlCol="0" anchor="ctr"/>
          <a:lstStyle/>
          <a:p>
            <a:pPr indent="0" marL="0">
              <a:buNone/>
            </a:pPr>
            <a:r>
              <a:rPr lang="en-US" sz="1400" b="1" dirty="0">
                <a:solidFill>
                  <a:schemeClr val="tx1"/>
                </a:solidFill>
              </a:rPr>
              <a:t>OS Quiz</a:t>
            </a:r>
            <a:endParaRPr lang="en-US" sz="1400" dirty="0"/>
          </a:p>
        </p:txBody>
      </p:sp>
      <p:sp>
        <p:nvSpPr>
          <p:cNvPr id="25" name="Text 23"/>
          <p:cNvSpPr txBox="1"/>
          <p:nvPr/>
        </p:nvSpPr>
        <p:spPr>
          <a:xfrm>
            <a:off x="3931920" y="3529584"/>
            <a:ext cx="1417320" cy="384048"/>
          </a:xfrm>
          <a:prstGeom prst="rect">
            <a:avLst/>
          </a:prstGeom>
          <a:noFill/>
          <a:ln/>
        </p:spPr>
        <p:txBody>
          <a:bodyPr wrap="square" lIns="0" tIns="0" rIns="0" bIns="0" rtlCol="0" anchor="ctr"/>
          <a:lstStyle/>
          <a:p>
            <a:pPr algn="r" indent="0" marL="0">
              <a:buNone/>
            </a:pPr>
            <a:r>
              <a:rPr lang="en-US" sz="1200" b="1" dirty="0">
                <a:solidFill>
                  <a:schemeClr val="accent3"/>
                </a:solidFill>
              </a:rPr>
              <a:t>Due today</a:t>
            </a:r>
            <a:endParaRPr lang="en-US" sz="1200" dirty="0"/>
          </a:p>
        </p:txBody>
      </p:sp>
      <p:sp>
        <p:nvSpPr>
          <p:cNvPr id="26" name="DBMS Assignment 2 row"/>
          <p:cNvSpPr/>
          <p:nvPr/>
        </p:nvSpPr>
        <p:spPr>
          <a:xfrm>
            <a:off x="594360" y="3986784"/>
            <a:ext cx="4846320" cy="384048"/>
          </a:xfrm>
          <a:prstGeom prst="roundRect">
            <a:avLst>
              <a:gd name="adj" fmla="val 28571"/>
            </a:avLst>
          </a:prstGeom>
          <a:solidFill>
            <a:schemeClr val="bg1"/>
          </a:solidFill>
          <a:ln/>
        </p:spPr>
      </p:sp>
      <p:sp>
        <p:nvSpPr>
          <p:cNvPr id="27" name="DBMS Assignment 2 score"/>
          <p:cNvSpPr/>
          <p:nvPr/>
        </p:nvSpPr>
        <p:spPr>
          <a:xfrm>
            <a:off x="685800" y="4032504"/>
            <a:ext cx="292608" cy="292608"/>
          </a:xfrm>
          <a:prstGeom prst="ellipse">
            <a:avLst/>
          </a:prstGeom>
          <a:solidFill>
            <a:schemeClr val="accent4"/>
          </a:solidFill>
          <a:ln/>
        </p:spPr>
      </p:sp>
      <p:sp>
        <p:nvSpPr>
          <p:cNvPr id="28" name="Text 26"/>
          <p:cNvSpPr txBox="1"/>
          <p:nvPr/>
        </p:nvSpPr>
        <p:spPr>
          <a:xfrm>
            <a:off x="685800" y="403250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63</a:t>
            </a:r>
            <a:endParaRPr lang="en-US" sz="1200" dirty="0"/>
          </a:p>
        </p:txBody>
      </p:sp>
      <p:sp>
        <p:nvSpPr>
          <p:cNvPr id="29" name="Text 27"/>
          <p:cNvSpPr txBox="1"/>
          <p:nvPr/>
        </p:nvSpPr>
        <p:spPr>
          <a:xfrm>
            <a:off x="1097280" y="3986784"/>
            <a:ext cx="2651760" cy="384048"/>
          </a:xfrm>
          <a:prstGeom prst="rect">
            <a:avLst/>
          </a:prstGeom>
          <a:noFill/>
          <a:ln/>
        </p:spPr>
        <p:txBody>
          <a:bodyPr wrap="square" lIns="0" tIns="0" rIns="0" bIns="0" rtlCol="0" anchor="ctr"/>
          <a:lstStyle/>
          <a:p>
            <a:pPr indent="0" marL="0">
              <a:buNone/>
            </a:pPr>
            <a:r>
              <a:rPr lang="en-US" sz="1400" b="1" dirty="0">
                <a:solidFill>
                  <a:schemeClr val="tx1"/>
                </a:solidFill>
              </a:rPr>
              <a:t>DBMS Assignment 2</a:t>
            </a:r>
            <a:endParaRPr lang="en-US" sz="1400" dirty="0"/>
          </a:p>
        </p:txBody>
      </p:sp>
      <p:sp>
        <p:nvSpPr>
          <p:cNvPr id="30" name="Text 28"/>
          <p:cNvSpPr txBox="1"/>
          <p:nvPr/>
        </p:nvSpPr>
        <p:spPr>
          <a:xfrm>
            <a:off x="3931920" y="3986784"/>
            <a:ext cx="1417320" cy="384048"/>
          </a:xfrm>
          <a:prstGeom prst="rect">
            <a:avLst/>
          </a:prstGeom>
          <a:noFill/>
          <a:ln/>
        </p:spPr>
        <p:txBody>
          <a:bodyPr wrap="square" lIns="0" tIns="0" rIns="0" bIns="0" rtlCol="0" anchor="ctr"/>
          <a:lstStyle/>
          <a:p>
            <a:pPr algn="r" indent="0" marL="0">
              <a:buNone/>
            </a:pPr>
            <a:r>
              <a:rPr lang="en-US" sz="1200" b="1" dirty="0">
                <a:solidFill>
                  <a:schemeClr val="accent4"/>
                </a:solidFill>
              </a:rPr>
              <a:t>Tomorrow</a:t>
            </a:r>
            <a:endParaRPr lang="en-US" sz="1200" dirty="0"/>
          </a:p>
        </p:txBody>
      </p:sp>
      <p:sp>
        <p:nvSpPr>
          <p:cNvPr id="31" name="Text 29"/>
          <p:cNvSpPr txBox="1"/>
          <p:nvPr/>
        </p:nvSpPr>
        <p:spPr>
          <a:xfrm>
            <a:off x="5852160" y="1234440"/>
            <a:ext cx="2834640" cy="274320"/>
          </a:xfrm>
          <a:prstGeom prst="rect">
            <a:avLst/>
          </a:prstGeom>
          <a:noFill/>
          <a:ln/>
        </p:spPr>
        <p:txBody>
          <a:bodyPr wrap="square" lIns="0" tIns="0" rIns="0" bIns="0" rtlCol="0" anchor="ctr"/>
          <a:lstStyle/>
          <a:p>
            <a:pPr indent="0" marL="0">
              <a:buNone/>
            </a:pPr>
            <a:r>
              <a:rPr lang="en-US" sz="1600" b="1" dirty="0">
                <a:solidFill>
                  <a:schemeClr val="tx2"/>
                </a:solidFill>
              </a:rPr>
              <a:t>What the dashboard does</a:t>
            </a:r>
            <a:endParaRPr lang="en-US" sz="1600" dirty="0"/>
          </a:p>
        </p:txBody>
      </p:sp>
      <p:sp>
        <p:nvSpPr>
          <p:cNvPr id="32" name="Text 30"/>
          <p:cNvSpPr txBox="1"/>
          <p:nvPr/>
        </p:nvSpPr>
        <p:spPr>
          <a:xfrm>
            <a:off x="5852160" y="1600200"/>
            <a:ext cx="28346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Paste a message, get the deadline</a:t>
            </a:r>
            <a:endParaRPr lang="en-US" sz="1400" dirty="0"/>
          </a:p>
          <a:p>
            <a:pPr marL="342900" indent="-342900">
              <a:spcAft>
                <a:spcPts val="600"/>
              </a:spcAft>
              <a:buSzPct val="100000"/>
              <a:buChar char="•"/>
            </a:pPr>
            <a:r>
              <a:rPr lang="en-US" sz="1400" dirty="0">
                <a:solidFill>
                  <a:schemeClr val="tx1"/>
                </a:solidFill>
              </a:rPr>
              <a:t>Overdue, Today, Upcoming views</a:t>
            </a:r>
            <a:endParaRPr lang="en-US" sz="1400" dirty="0"/>
          </a:p>
          <a:p>
            <a:pPr marL="342900" indent="-342900">
              <a:spcAft>
                <a:spcPts val="600"/>
              </a:spcAft>
              <a:buSzPct val="100000"/>
              <a:buChar char="•"/>
            </a:pPr>
            <a:r>
              <a:rPr lang="en-US" sz="1400" dirty="0">
                <a:solidFill>
                  <a:schemeClr val="tx1"/>
                </a:solidFill>
              </a:rPr>
              <a:t>Priority score from 0 to 100</a:t>
            </a:r>
            <a:endParaRPr lang="en-US" sz="1400" dirty="0"/>
          </a:p>
          <a:p>
            <a:pPr marL="342900" indent="-342900">
              <a:spcAft>
                <a:spcPts val="600"/>
              </a:spcAft>
              <a:buSzPct val="100000"/>
              <a:buChar char="•"/>
            </a:pPr>
            <a:r>
              <a:rPr lang="en-US" sz="1400" dirty="0">
                <a:solidFill>
                  <a:schemeClr val="tx1"/>
                </a:solidFill>
              </a:rPr>
              <a:t>Reminders in English or Hinglish</a:t>
            </a:r>
            <a:endParaRPr lang="en-US" sz="1400" dirty="0"/>
          </a:p>
        </p:txBody>
      </p:sp>
      <p:sp>
        <p:nvSpPr>
          <p:cNvPr id="33" name="Reminder card"/>
          <p:cNvSpPr/>
          <p:nvPr/>
        </p:nvSpPr>
        <p:spPr>
          <a:xfrm>
            <a:off x="5852160" y="3337560"/>
            <a:ext cx="2834640" cy="1143000"/>
          </a:xfrm>
          <a:prstGeom prst="roundRect">
            <a:avLst>
              <a:gd name="adj" fmla="val 9600"/>
            </a:avLst>
          </a:prstGeom>
          <a:solidFill>
            <a:schemeClr val="tx2"/>
          </a:solidFill>
          <a:ln/>
        </p:spPr>
      </p:sp>
      <p:pic>
        <p:nvPicPr>
          <p:cNvPr id="34" name="Bell icon" descr="Bell icon">    </p:cNvPr>
          <p:cNvPicPr>
            <a:picLocks noChangeAspect="1"/>
          </p:cNvPicPr>
          <p:nvPr/>
        </p:nvPicPr>
        <p:blipFill>
          <a:blip r:embed="rId1"/>
          <a:stretch>
            <a:fillRect/>
          </a:stretch>
        </p:blipFill>
        <p:spPr>
          <a:xfrm>
            <a:off x="6016752" y="3456432"/>
            <a:ext cx="256032" cy="256032"/>
          </a:xfrm>
          <a:prstGeom prst="rect">
            <a:avLst/>
          </a:prstGeom>
        </p:spPr>
      </p:pic>
      <p:sp>
        <p:nvSpPr>
          <p:cNvPr id="35" name="Text 32"/>
          <p:cNvSpPr txBox="1"/>
          <p:nvPr/>
        </p:nvSpPr>
        <p:spPr>
          <a:xfrm>
            <a:off x="6400800" y="3456432"/>
            <a:ext cx="2103120" cy="256032"/>
          </a:xfrm>
          <a:prstGeom prst="rect">
            <a:avLst/>
          </a:prstGeom>
          <a:noFill/>
          <a:ln/>
        </p:spPr>
        <p:txBody>
          <a:bodyPr wrap="square" lIns="0" tIns="0" rIns="0" bIns="0" rtlCol="0" anchor="ctr"/>
          <a:lstStyle/>
          <a:p>
            <a:pPr indent="0" marL="0">
              <a:buNone/>
            </a:pPr>
            <a:r>
              <a:rPr lang="en-US" sz="1200" b="1" dirty="0">
                <a:solidFill>
                  <a:schemeClr val="accent2"/>
                </a:solidFill>
              </a:rPr>
              <a:t>Sample reminder</a:t>
            </a:r>
            <a:endParaRPr lang="en-US" sz="1200" dirty="0"/>
          </a:p>
        </p:txBody>
      </p:sp>
      <p:sp>
        <p:nvSpPr>
          <p:cNvPr id="36" name="Text 33"/>
          <p:cNvSpPr txBox="1"/>
          <p:nvPr/>
        </p:nvSpPr>
        <p:spPr>
          <a:xfrm>
            <a:off x="6016752" y="3767328"/>
            <a:ext cx="2514600" cy="640080"/>
          </a:xfrm>
          <a:prstGeom prst="rect">
            <a:avLst/>
          </a:prstGeom>
          <a:noFill/>
          <a:ln/>
        </p:spPr>
        <p:txBody>
          <a:bodyPr wrap="square" lIns="0" tIns="0" rIns="0" bIns="0" rtlCol="0" anchor="t"/>
          <a:lstStyle/>
          <a:p>
            <a:pPr indent="0" marL="0">
              <a:buNone/>
            </a:pPr>
            <a:r>
              <a:rPr lang="en-US" sz="1400" dirty="0">
                <a:solidFill>
                  <a:schemeClr val="bg1"/>
                </a:solidFill>
              </a:rPr>
              <a:t>Due today: OS Quiz (OS) at 6:00 pm. It needs about 2h, so start now.</a:t>
            </a:r>
            <a:endParaRPr lang="en-US" sz="1400" dirty="0"/>
          </a:p>
        </p:txBody>
      </p:sp>
      <p:sp>
        <p:nvSpPr>
          <p:cNvPr id="37" name="Text 34"/>
          <p:cNvSpPr txBox="1"/>
          <p:nvPr/>
        </p:nvSpPr>
        <p:spPr>
          <a:xfrm>
            <a:off x="457200" y="4572000"/>
            <a:ext cx="7589520" cy="228600"/>
          </a:xfrm>
          <a:prstGeom prst="rect">
            <a:avLst/>
          </a:prstGeom>
          <a:noFill/>
          <a:ln/>
        </p:spPr>
        <p:txBody>
          <a:bodyPr wrap="square" lIns="0" tIns="0" rIns="0" bIns="0" rtlCol="0" anchor="ctr"/>
          <a:lstStyle/>
          <a:p>
            <a:pPr indent="0" marL="0">
              <a:buNone/>
            </a:pPr>
            <a:r>
              <a:rPr lang="en-US" sz="1200" dirty="0">
                <a:solidFill>
                  <a:schemeClr val="tx1"/>
                </a:solidFill>
              </a:rPr>
              <a:t>Sample data shown. The live demo runs the same dashboard.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Impact and what comes next</a:t>
            </a:r>
            <a:endParaRPr lang="en-US" sz="3000" dirty="0"/>
          </a:p>
        </p:txBody>
      </p:sp>
      <p:sp>
        <p:nvSpPr>
          <p:cNvPr id="3" name="Text 1"/>
          <p:cNvSpPr txBox="1"/>
          <p:nvPr/>
        </p:nvSpPr>
        <p:spPr>
          <a:xfrm>
            <a:off x="457200" y="1234440"/>
            <a:ext cx="3840480" cy="274320"/>
          </a:xfrm>
          <a:prstGeom prst="rect">
            <a:avLst/>
          </a:prstGeom>
          <a:noFill/>
          <a:ln/>
        </p:spPr>
        <p:txBody>
          <a:bodyPr wrap="square" lIns="0" tIns="0" rIns="0" bIns="0" rtlCol="0" anchor="ctr"/>
          <a:lstStyle/>
          <a:p>
            <a:pPr indent="0" marL="0">
              <a:buNone/>
            </a:pPr>
            <a:r>
              <a:rPr lang="en-US" sz="1600" b="1" dirty="0">
                <a:solidFill>
                  <a:schemeClr val="tx2"/>
                </a:solidFill>
              </a:rPr>
              <a:t>Impact</a:t>
            </a:r>
            <a:endParaRPr lang="en-US" sz="1600" dirty="0"/>
          </a:p>
        </p:txBody>
      </p:sp>
      <p:sp>
        <p:nvSpPr>
          <p:cNvPr id="4" name="Fewer missed deadlines icon circle"/>
          <p:cNvSpPr/>
          <p:nvPr/>
        </p:nvSpPr>
        <p:spPr>
          <a:xfrm>
            <a:off x="457200" y="1645920"/>
            <a:ext cx="438912" cy="438912"/>
          </a:xfrm>
          <a:prstGeom prst="ellipse">
            <a:avLst/>
          </a:prstGeom>
          <a:solidFill>
            <a:schemeClr val="accent1"/>
          </a:solidFill>
          <a:ln/>
        </p:spPr>
      </p:sp>
      <p:pic>
        <p:nvPicPr>
          <p:cNvPr id="5" name="Fewer missed deadlines icon" descr="Fewer missed deadlines icon">    </p:cNvPr>
          <p:cNvPicPr>
            <a:picLocks noChangeAspect="1"/>
          </p:cNvPicPr>
          <p:nvPr/>
        </p:nvPicPr>
        <p:blipFill>
          <a:blip r:embed="rId1"/>
          <a:stretch>
            <a:fillRect/>
          </a:stretch>
        </p:blipFill>
        <p:spPr>
          <a:xfrm>
            <a:off x="562539" y="1751259"/>
            <a:ext cx="228234" cy="228234"/>
          </a:xfrm>
          <a:prstGeom prst="rect">
            <a:avLst/>
          </a:prstGeom>
        </p:spPr>
      </p:pic>
      <p:sp>
        <p:nvSpPr>
          <p:cNvPr id="6" name="Text 3"/>
          <p:cNvSpPr txBox="1"/>
          <p:nvPr/>
        </p:nvSpPr>
        <p:spPr>
          <a:xfrm>
            <a:off x="1051560" y="1645920"/>
            <a:ext cx="3246120" cy="438912"/>
          </a:xfrm>
          <a:prstGeom prst="rect">
            <a:avLst/>
          </a:prstGeom>
          <a:noFill/>
          <a:ln/>
        </p:spPr>
        <p:txBody>
          <a:bodyPr wrap="square" lIns="0" tIns="0" rIns="0" bIns="0" rtlCol="0" anchor="ctr"/>
          <a:lstStyle/>
          <a:p>
            <a:pPr indent="0" marL="0">
              <a:buNone/>
            </a:pPr>
            <a:r>
              <a:rPr lang="en-US" sz="1400" dirty="0">
                <a:solidFill>
                  <a:schemeClr val="tx1"/>
                </a:solidFill>
              </a:rPr>
              <a:t>Fewer missed deadlines</a:t>
            </a:r>
            <a:endParaRPr lang="en-US" sz="1400" dirty="0"/>
          </a:p>
        </p:txBody>
      </p:sp>
      <p:sp>
        <p:nvSpPr>
          <p:cNvPr id="7" name="Less time spent tracking updates icon circle"/>
          <p:cNvSpPr/>
          <p:nvPr/>
        </p:nvSpPr>
        <p:spPr>
          <a:xfrm>
            <a:off x="457200" y="2240280"/>
            <a:ext cx="438912" cy="438912"/>
          </a:xfrm>
          <a:prstGeom prst="ellipse">
            <a:avLst/>
          </a:prstGeom>
          <a:solidFill>
            <a:schemeClr val="accent1"/>
          </a:solidFill>
          <a:ln/>
        </p:spPr>
      </p:sp>
      <p:pic>
        <p:nvPicPr>
          <p:cNvPr id="8" name="Less time spent tracking updates icon" descr="Less time spent tracking updates icon">    </p:cNvPr>
          <p:cNvPicPr>
            <a:picLocks noChangeAspect="1"/>
          </p:cNvPicPr>
          <p:nvPr/>
        </p:nvPicPr>
        <p:blipFill>
          <a:blip r:embed="rId2"/>
          <a:stretch>
            <a:fillRect/>
          </a:stretch>
        </p:blipFill>
        <p:spPr>
          <a:xfrm>
            <a:off x="562539" y="2345619"/>
            <a:ext cx="228234" cy="228234"/>
          </a:xfrm>
          <a:prstGeom prst="rect">
            <a:avLst/>
          </a:prstGeom>
        </p:spPr>
      </p:pic>
      <p:sp>
        <p:nvSpPr>
          <p:cNvPr id="9" name="Text 5"/>
          <p:cNvSpPr txBox="1"/>
          <p:nvPr/>
        </p:nvSpPr>
        <p:spPr>
          <a:xfrm>
            <a:off x="1051560" y="2240280"/>
            <a:ext cx="3246120" cy="438912"/>
          </a:xfrm>
          <a:prstGeom prst="rect">
            <a:avLst/>
          </a:prstGeom>
          <a:noFill/>
          <a:ln/>
        </p:spPr>
        <p:txBody>
          <a:bodyPr wrap="square" lIns="0" tIns="0" rIns="0" bIns="0" rtlCol="0" anchor="ctr"/>
          <a:lstStyle/>
          <a:p>
            <a:pPr indent="0" marL="0">
              <a:buNone/>
            </a:pPr>
            <a:r>
              <a:rPr lang="en-US" sz="1400" dirty="0">
                <a:solidFill>
                  <a:schemeClr val="tx1"/>
                </a:solidFill>
              </a:rPr>
              <a:t>Less time spent tracking updates</a:t>
            </a:r>
            <a:endParaRPr lang="en-US" sz="1400" dirty="0"/>
          </a:p>
        </p:txBody>
      </p:sp>
      <p:sp>
        <p:nvSpPr>
          <p:cNvPr id="10" name="Less last-minute stress icon circle"/>
          <p:cNvSpPr/>
          <p:nvPr/>
        </p:nvSpPr>
        <p:spPr>
          <a:xfrm>
            <a:off x="457200" y="2834640"/>
            <a:ext cx="438912" cy="438912"/>
          </a:xfrm>
          <a:prstGeom prst="ellipse">
            <a:avLst/>
          </a:prstGeom>
          <a:solidFill>
            <a:schemeClr val="accent1"/>
          </a:solidFill>
          <a:ln/>
        </p:spPr>
      </p:sp>
      <p:pic>
        <p:nvPicPr>
          <p:cNvPr id="11" name="Less last-minute stress icon" descr="Less last-minute stress icon">    </p:cNvPr>
          <p:cNvPicPr>
            <a:picLocks noChangeAspect="1"/>
          </p:cNvPicPr>
          <p:nvPr/>
        </p:nvPicPr>
        <p:blipFill>
          <a:blip r:embed="rId3"/>
          <a:stretch>
            <a:fillRect/>
          </a:stretch>
        </p:blipFill>
        <p:spPr>
          <a:xfrm>
            <a:off x="562539" y="2939979"/>
            <a:ext cx="228234" cy="228234"/>
          </a:xfrm>
          <a:prstGeom prst="rect">
            <a:avLst/>
          </a:prstGeom>
        </p:spPr>
      </p:pic>
      <p:sp>
        <p:nvSpPr>
          <p:cNvPr id="12" name="Text 7"/>
          <p:cNvSpPr txBox="1"/>
          <p:nvPr/>
        </p:nvSpPr>
        <p:spPr>
          <a:xfrm>
            <a:off x="1051560" y="2834640"/>
            <a:ext cx="3246120" cy="438912"/>
          </a:xfrm>
          <a:prstGeom prst="rect">
            <a:avLst/>
          </a:prstGeom>
          <a:noFill/>
          <a:ln/>
        </p:spPr>
        <p:txBody>
          <a:bodyPr wrap="square" lIns="0" tIns="0" rIns="0" bIns="0" rtlCol="0" anchor="ctr"/>
          <a:lstStyle/>
          <a:p>
            <a:pPr indent="0" marL="0">
              <a:buNone/>
            </a:pPr>
            <a:r>
              <a:rPr lang="en-US" sz="1400" dirty="0">
                <a:solidFill>
                  <a:schemeClr val="tx1"/>
                </a:solidFill>
              </a:rPr>
              <a:t>Less last-minute stress</a:t>
            </a:r>
            <a:endParaRPr lang="en-US" sz="1400" dirty="0"/>
          </a:p>
        </p:txBody>
      </p:sp>
      <p:sp>
        <p:nvSpPr>
          <p:cNvPr id="13" name="Privacy first: read-only access, minimal data icon circle"/>
          <p:cNvSpPr/>
          <p:nvPr/>
        </p:nvSpPr>
        <p:spPr>
          <a:xfrm>
            <a:off x="457200" y="3429000"/>
            <a:ext cx="438912" cy="438912"/>
          </a:xfrm>
          <a:prstGeom prst="ellipse">
            <a:avLst/>
          </a:prstGeom>
          <a:solidFill>
            <a:schemeClr val="accent1"/>
          </a:solidFill>
          <a:ln/>
        </p:spPr>
      </p:sp>
      <p:pic>
        <p:nvPicPr>
          <p:cNvPr id="14" name="Privacy first: read-only access, minimal data icon" descr="Privacy first: read-only access, minimal data icon">    </p:cNvPr>
          <p:cNvPicPr>
            <a:picLocks noChangeAspect="1"/>
          </p:cNvPicPr>
          <p:nvPr/>
        </p:nvPicPr>
        <p:blipFill>
          <a:blip r:embed="rId4"/>
          <a:stretch>
            <a:fillRect/>
          </a:stretch>
        </p:blipFill>
        <p:spPr>
          <a:xfrm>
            <a:off x="562539" y="3534339"/>
            <a:ext cx="228234" cy="228234"/>
          </a:xfrm>
          <a:prstGeom prst="rect">
            <a:avLst/>
          </a:prstGeom>
        </p:spPr>
      </p:pic>
      <p:sp>
        <p:nvSpPr>
          <p:cNvPr id="15" name="Text 9"/>
          <p:cNvSpPr txBox="1"/>
          <p:nvPr/>
        </p:nvSpPr>
        <p:spPr>
          <a:xfrm>
            <a:off x="1051560" y="3429000"/>
            <a:ext cx="3246120" cy="438912"/>
          </a:xfrm>
          <a:prstGeom prst="rect">
            <a:avLst/>
          </a:prstGeom>
          <a:noFill/>
          <a:ln/>
        </p:spPr>
        <p:txBody>
          <a:bodyPr wrap="square" lIns="0" tIns="0" rIns="0" bIns="0" rtlCol="0" anchor="ctr"/>
          <a:lstStyle/>
          <a:p>
            <a:pPr indent="0" marL="0">
              <a:buNone/>
            </a:pPr>
            <a:r>
              <a:rPr lang="en-US" sz="1400" dirty="0">
                <a:solidFill>
                  <a:schemeClr val="tx1"/>
                </a:solidFill>
              </a:rPr>
              <a:t>Privacy first: read-only access, minimal data</a:t>
            </a:r>
            <a:endParaRPr lang="en-US" sz="1400" dirty="0"/>
          </a:p>
        </p:txBody>
      </p:sp>
      <p:sp>
        <p:nvSpPr>
          <p:cNvPr id="16" name="Text 10"/>
          <p:cNvSpPr txBox="1"/>
          <p:nvPr/>
        </p:nvSpPr>
        <p:spPr>
          <a:xfrm>
            <a:off x="4663440" y="1234440"/>
            <a:ext cx="4023360" cy="274320"/>
          </a:xfrm>
          <a:prstGeom prst="rect">
            <a:avLst/>
          </a:prstGeom>
          <a:noFill/>
          <a:ln/>
        </p:spPr>
        <p:txBody>
          <a:bodyPr wrap="square" lIns="0" tIns="0" rIns="0" bIns="0" rtlCol="0" anchor="ctr"/>
          <a:lstStyle/>
          <a:p>
            <a:pPr indent="0" marL="0">
              <a:buNone/>
            </a:pPr>
            <a:r>
              <a:rPr lang="en-US" sz="1600" b="1" dirty="0">
                <a:solidFill>
                  <a:schemeClr val="tx2"/>
                </a:solidFill>
              </a:rPr>
              <a:t>Roadmap</a:t>
            </a:r>
            <a:endParaRPr lang="en-US" sz="1600" dirty="0"/>
          </a:p>
        </p:txBody>
      </p:sp>
      <p:sp>
        <p:nvSpPr>
          <p:cNvPr id="17" name="Now card"/>
          <p:cNvSpPr/>
          <p:nvPr/>
        </p:nvSpPr>
        <p:spPr>
          <a:xfrm>
            <a:off x="4663440" y="1645920"/>
            <a:ext cx="4023360" cy="685800"/>
          </a:xfrm>
          <a:prstGeom prst="roundRect">
            <a:avLst>
              <a:gd name="adj" fmla="val 16000"/>
            </a:avLst>
          </a:prstGeom>
          <a:solidFill>
            <a:schemeClr val="bg2"/>
          </a:solidFill>
          <a:ln/>
        </p:spPr>
      </p:sp>
      <p:sp>
        <p:nvSpPr>
          <p:cNvPr id="18" name="Now tag"/>
          <p:cNvSpPr/>
          <p:nvPr/>
        </p:nvSpPr>
        <p:spPr>
          <a:xfrm>
            <a:off x="4800600" y="1828800"/>
            <a:ext cx="640080" cy="320040"/>
          </a:xfrm>
          <a:prstGeom prst="roundRect">
            <a:avLst>
              <a:gd name="adj" fmla="val 48571"/>
            </a:avLst>
          </a:prstGeom>
          <a:solidFill>
            <a:schemeClr val="accent6"/>
          </a:solidFill>
          <a:ln/>
        </p:spPr>
      </p:sp>
      <p:sp>
        <p:nvSpPr>
          <p:cNvPr id="19" name="Text 13"/>
          <p:cNvSpPr txBox="1"/>
          <p:nvPr/>
        </p:nvSpPr>
        <p:spPr>
          <a:xfrm>
            <a:off x="4800600" y="1828800"/>
            <a:ext cx="640080" cy="320040"/>
          </a:xfrm>
          <a:prstGeom prst="rect">
            <a:avLst/>
          </a:prstGeom>
          <a:noFill/>
          <a:ln/>
        </p:spPr>
        <p:txBody>
          <a:bodyPr wrap="square" lIns="0" tIns="0" rIns="0" bIns="0" rtlCol="0" anchor="ctr"/>
          <a:lstStyle/>
          <a:p>
            <a:pPr algn="ctr" indent="0" marL="0">
              <a:buNone/>
            </a:pPr>
            <a:r>
              <a:rPr lang="en-US" sz="1200" b="1" dirty="0">
                <a:solidFill>
                  <a:schemeClr val="bg1"/>
                </a:solidFill>
              </a:rPr>
              <a:t>Now</a:t>
            </a:r>
            <a:endParaRPr lang="en-US" sz="1200" dirty="0"/>
          </a:p>
        </p:txBody>
      </p:sp>
      <p:sp>
        <p:nvSpPr>
          <p:cNvPr id="20" name="Text 14"/>
          <p:cNvSpPr txBox="1"/>
          <p:nvPr/>
        </p:nvSpPr>
        <p:spPr>
          <a:xfrm>
            <a:off x="5577840" y="1645920"/>
            <a:ext cx="3017520" cy="685800"/>
          </a:xfrm>
          <a:prstGeom prst="rect">
            <a:avLst/>
          </a:prstGeom>
          <a:noFill/>
          <a:ln/>
        </p:spPr>
        <p:txBody>
          <a:bodyPr wrap="square" lIns="0" tIns="0" rIns="0" bIns="0" rtlCol="0" anchor="ctr"/>
          <a:lstStyle/>
          <a:p>
            <a:pPr indent="0" marL="0">
              <a:buNone/>
            </a:pPr>
            <a:r>
              <a:rPr lang="en-US" sz="1400" dirty="0">
                <a:solidFill>
                  <a:schemeClr val="tx1"/>
                </a:solidFill>
              </a:rPr>
              <a:t>Dashboard, message extraction, priority score and reminders</a:t>
            </a:r>
            <a:endParaRPr lang="en-US" sz="1400" dirty="0"/>
          </a:p>
        </p:txBody>
      </p:sp>
      <p:sp>
        <p:nvSpPr>
          <p:cNvPr id="21" name="Next card"/>
          <p:cNvSpPr/>
          <p:nvPr/>
        </p:nvSpPr>
        <p:spPr>
          <a:xfrm>
            <a:off x="4663440" y="2423160"/>
            <a:ext cx="4023360" cy="685800"/>
          </a:xfrm>
          <a:prstGeom prst="roundRect">
            <a:avLst>
              <a:gd name="adj" fmla="val 16000"/>
            </a:avLst>
          </a:prstGeom>
          <a:solidFill>
            <a:schemeClr val="bg2"/>
          </a:solidFill>
          <a:ln/>
        </p:spPr>
      </p:sp>
      <p:sp>
        <p:nvSpPr>
          <p:cNvPr id="22" name="Next tag"/>
          <p:cNvSpPr/>
          <p:nvPr/>
        </p:nvSpPr>
        <p:spPr>
          <a:xfrm>
            <a:off x="4800600" y="2606040"/>
            <a:ext cx="640080" cy="320040"/>
          </a:xfrm>
          <a:prstGeom prst="roundRect">
            <a:avLst>
              <a:gd name="adj" fmla="val 48571"/>
            </a:avLst>
          </a:prstGeom>
          <a:solidFill>
            <a:schemeClr val="accent5"/>
          </a:solidFill>
          <a:ln/>
        </p:spPr>
      </p:sp>
      <p:sp>
        <p:nvSpPr>
          <p:cNvPr id="23" name="Text 17"/>
          <p:cNvSpPr txBox="1"/>
          <p:nvPr/>
        </p:nvSpPr>
        <p:spPr>
          <a:xfrm>
            <a:off x="4800600" y="2606040"/>
            <a:ext cx="640080" cy="320040"/>
          </a:xfrm>
          <a:prstGeom prst="rect">
            <a:avLst/>
          </a:prstGeom>
          <a:noFill/>
          <a:ln/>
        </p:spPr>
        <p:txBody>
          <a:bodyPr wrap="square" lIns="0" tIns="0" rIns="0" bIns="0" rtlCol="0" anchor="ctr"/>
          <a:lstStyle/>
          <a:p>
            <a:pPr algn="ctr" indent="0" marL="0">
              <a:buNone/>
            </a:pPr>
            <a:r>
              <a:rPr lang="en-US" sz="1200" b="1" dirty="0">
                <a:solidFill>
                  <a:schemeClr val="bg1"/>
                </a:solidFill>
              </a:rPr>
              <a:t>Next</a:t>
            </a:r>
            <a:endParaRPr lang="en-US" sz="1200" dirty="0"/>
          </a:p>
        </p:txBody>
      </p:sp>
      <p:sp>
        <p:nvSpPr>
          <p:cNvPr id="24" name="Text 18"/>
          <p:cNvSpPr txBox="1"/>
          <p:nvPr/>
        </p:nvSpPr>
        <p:spPr>
          <a:xfrm>
            <a:off x="5577840" y="2423160"/>
            <a:ext cx="3017520" cy="685800"/>
          </a:xfrm>
          <a:prstGeom prst="rect">
            <a:avLst/>
          </a:prstGeom>
          <a:noFill/>
          <a:ln/>
        </p:spPr>
        <p:txBody>
          <a:bodyPr wrap="square" lIns="0" tIns="0" rIns="0" bIns="0" rtlCol="0" anchor="ctr"/>
          <a:lstStyle/>
          <a:p>
            <a:pPr indent="0" marL="0">
              <a:buNone/>
            </a:pPr>
            <a:r>
              <a:rPr lang="en-US" sz="1400" dirty="0">
                <a:solidFill>
                  <a:schemeClr val="tx1"/>
                </a:solidFill>
              </a:rPr>
              <a:t>Gmail and Classroom auto-read, Telegram reminders</a:t>
            </a:r>
            <a:endParaRPr lang="en-US" sz="1400" dirty="0"/>
          </a:p>
        </p:txBody>
      </p:sp>
      <p:sp>
        <p:nvSpPr>
          <p:cNvPr id="25" name="Later card"/>
          <p:cNvSpPr/>
          <p:nvPr/>
        </p:nvSpPr>
        <p:spPr>
          <a:xfrm>
            <a:off x="4663440" y="3200400"/>
            <a:ext cx="4023360" cy="685800"/>
          </a:xfrm>
          <a:prstGeom prst="roundRect">
            <a:avLst>
              <a:gd name="adj" fmla="val 16000"/>
            </a:avLst>
          </a:prstGeom>
          <a:solidFill>
            <a:schemeClr val="bg2"/>
          </a:solidFill>
          <a:ln/>
        </p:spPr>
      </p:sp>
      <p:sp>
        <p:nvSpPr>
          <p:cNvPr id="26" name="Later tag"/>
          <p:cNvSpPr/>
          <p:nvPr/>
        </p:nvSpPr>
        <p:spPr>
          <a:xfrm>
            <a:off x="4800600" y="3383280"/>
            <a:ext cx="640080" cy="320040"/>
          </a:xfrm>
          <a:prstGeom prst="roundRect">
            <a:avLst>
              <a:gd name="adj" fmla="val 48571"/>
            </a:avLst>
          </a:prstGeom>
          <a:solidFill>
            <a:schemeClr val="accent4"/>
          </a:solidFill>
          <a:ln/>
        </p:spPr>
      </p:sp>
      <p:sp>
        <p:nvSpPr>
          <p:cNvPr id="27" name="Text 21"/>
          <p:cNvSpPr txBox="1"/>
          <p:nvPr/>
        </p:nvSpPr>
        <p:spPr>
          <a:xfrm>
            <a:off x="4800600" y="3383280"/>
            <a:ext cx="640080" cy="320040"/>
          </a:xfrm>
          <a:prstGeom prst="rect">
            <a:avLst/>
          </a:prstGeom>
          <a:noFill/>
          <a:ln/>
        </p:spPr>
        <p:txBody>
          <a:bodyPr wrap="square" lIns="0" tIns="0" rIns="0" bIns="0" rtlCol="0" anchor="ctr"/>
          <a:lstStyle/>
          <a:p>
            <a:pPr algn="ctr" indent="0" marL="0">
              <a:buNone/>
            </a:pPr>
            <a:r>
              <a:rPr lang="en-US" sz="1200" b="1" dirty="0">
                <a:solidFill>
                  <a:schemeClr val="bg1"/>
                </a:solidFill>
              </a:rPr>
              <a:t>Later</a:t>
            </a:r>
            <a:endParaRPr lang="en-US" sz="1200" dirty="0"/>
          </a:p>
        </p:txBody>
      </p:sp>
      <p:sp>
        <p:nvSpPr>
          <p:cNvPr id="28" name="Text 22"/>
          <p:cNvSpPr txBox="1"/>
          <p:nvPr/>
        </p:nvSpPr>
        <p:spPr>
          <a:xfrm>
            <a:off x="5577840" y="3200400"/>
            <a:ext cx="3017520" cy="685800"/>
          </a:xfrm>
          <a:prstGeom prst="rect">
            <a:avLst/>
          </a:prstGeom>
          <a:noFill/>
          <a:ln/>
        </p:spPr>
        <p:txBody>
          <a:bodyPr wrap="square" lIns="0" tIns="0" rIns="0" bIns="0" rtlCol="0" anchor="ctr"/>
          <a:lstStyle/>
          <a:p>
            <a:pPr indent="0" marL="0">
              <a:buNone/>
            </a:pPr>
            <a:r>
              <a:rPr lang="en-US" sz="1400" dirty="0">
                <a:solidFill>
                  <a:schemeClr val="tx1"/>
                </a:solidFill>
              </a:rPr>
              <a:t>Learning from habits, mobile app</a:t>
            </a:r>
            <a:endParaRPr lang="en-US" sz="1400" dirty="0"/>
          </a:p>
        </p:txBody>
      </p:sp>
      <p:sp>
        <p:nvSpPr>
          <p:cNvPr id="29" name="Closing card"/>
          <p:cNvSpPr/>
          <p:nvPr/>
        </p:nvSpPr>
        <p:spPr>
          <a:xfrm>
            <a:off x="457200" y="4023360"/>
            <a:ext cx="8229600" cy="685800"/>
          </a:xfrm>
          <a:prstGeom prst="roundRect">
            <a:avLst>
              <a:gd name="adj" fmla="val 16000"/>
            </a:avLst>
          </a:prstGeom>
          <a:solidFill>
            <a:schemeClr val="tx2"/>
          </a:solidFill>
          <a:ln/>
        </p:spPr>
      </p:sp>
      <p:sp>
        <p:nvSpPr>
          <p:cNvPr id="30" name="Text 24"/>
          <p:cNvSpPr txBox="1"/>
          <p:nvPr/>
        </p:nvSpPr>
        <p:spPr>
          <a:xfrm>
            <a:off x="685800" y="4023360"/>
            <a:ext cx="2011680" cy="685800"/>
          </a:xfrm>
          <a:prstGeom prst="rect">
            <a:avLst/>
          </a:prstGeom>
          <a:noFill/>
          <a:ln/>
        </p:spPr>
        <p:txBody>
          <a:bodyPr wrap="square" lIns="0" tIns="0" rIns="0" bIns="0" rtlCol="0" anchor="ctr"/>
          <a:lstStyle/>
          <a:p>
            <a:pPr indent="0" marL="0">
              <a:buNone/>
            </a:pPr>
            <a:r>
              <a:rPr lang="en-US" sz="2200" b="1" dirty="0">
                <a:solidFill>
                  <a:schemeClr val="accent2"/>
                </a:solidFill>
              </a:rPr>
              <a:t>Thank you</a:t>
            </a:r>
            <a:endParaRPr lang="en-US" sz="2200" dirty="0"/>
          </a:p>
        </p:txBody>
      </p:sp>
      <p:sp>
        <p:nvSpPr>
          <p:cNvPr id="31" name="Text 25"/>
          <p:cNvSpPr txBox="1"/>
          <p:nvPr/>
        </p:nvSpPr>
        <p:spPr>
          <a:xfrm>
            <a:off x="4754880" y="4023360"/>
            <a:ext cx="3749040" cy="685800"/>
          </a:xfrm>
          <a:prstGeom prst="rect">
            <a:avLst/>
          </a:prstGeom>
          <a:noFill/>
          <a:ln/>
        </p:spPr>
        <p:txBody>
          <a:bodyPr wrap="square" lIns="0" tIns="0" rIns="0" bIns="0" rtlCol="0" anchor="ctr"/>
          <a:lstStyle/>
          <a:p>
            <a:pPr indent="0" marL="0">
              <a:buNone/>
            </a:pPr>
            <a:r>
              <a:rPr lang="en-US" sz="1400" dirty="0">
                <a:solidFill>
                  <a:schemeClr val="bg1"/>
                </a:solidFill>
              </a:rPr>
              <a:t>GitHub: [add your link here]</a:t>
            </a:r>
            <a:endParaRPr lang="en-US" sz="1400" dirty="0"/>
          </a:p>
          <a:p>
            <a:pPr indent="0" marL="0">
              <a:buNone/>
            </a:pPr>
            <a:r>
              <a:rPr lang="en-US" sz="1400" dirty="0">
                <a:solidFill>
                  <a:schemeClr val="bg1"/>
                </a:solidFill>
              </a:rPr>
              <a:t>Team: [add your team name]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DeadlineDost">
  <a:themeElements>
    <a:clrScheme name="DeadlineDost">
      <a:dk1>
        <a:srgbClr val="0E2622"/>
      </a:dk1>
      <a:lt1>
        <a:srgbClr val="FFFFFF"/>
      </a:lt1>
      <a:dk2>
        <a:srgbClr val="0E3B34"/>
      </a:dk2>
      <a:lt2>
        <a:srgbClr val="E9F1ED"/>
      </a:lt2>
      <a:accent1>
        <a:srgbClr val="17594D"/>
      </a:accent1>
      <a:accent2>
        <a:srgbClr val="E6F25A"/>
      </a:accent2>
      <a:accent3>
        <a:srgbClr val="D2343A"/>
      </a:accent3>
      <a:accent4>
        <a:srgbClr val="B26A00"/>
      </a:accent4>
      <a:accent5>
        <a:srgbClr val="1D6BD8"/>
      </a:accent5>
      <a:accent6>
        <a:srgbClr val="1B8A5B"/>
      </a:accent6>
      <a:hlink>
        <a:srgbClr val="1D6BD8"/>
      </a:hlink>
      <a:folHlink>
        <a:srgbClr val="55706A"/>
      </a:folHlink>
    </a:clrScheme>
    <a:fontScheme name="DeadlineDo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DeadlineDost</dc:title>
  <dc:subject>PptxGenJS Presentation</dc:subject>
  <dc:creator>PptxGenJS</dc:creator>
  <cp:lastModifiedBy>PptxGenJS</cp:lastModifiedBy>
  <cp:revision>1</cp:revision>
  <dcterms:created xsi:type="dcterms:W3CDTF">2026-10-19T09:14:11Z</dcterms:created>
  <dcterms:modified xsi:type="dcterms:W3CDTF">2026-10-19T09:14:11Z</dcterms:modified>
</cp:coreProperties>
</file>